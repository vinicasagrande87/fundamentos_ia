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F3C7E"/>
                </a:solidFill>
                <a:latin typeface="Arial"/>
              </a:defRPr>
            </a:pPr>
            <a:r>
              <a:rPr sz="1300" b="0" i="0" u="none" strike="noStrike">
                <a:solidFill>
                  <a:srgbClr val="2F3C7E"/>
                </a:solidFill>
                <a:latin typeface="Arial"/>
              </a:rPr>
              <a:t>Distribuição do treino recomendado</a:t>
            </a:r>
          </a:p>
        </c:rich>
      </c:tx>
      <c:layout/>
      <c:overlay val="0"/>
    </c:title>
    <c:autoTitleDeleted val="0"/>
    <c:plotArea>
      <c:layout/>
      <c:barChart>
        <c:barDir val="col"/>
        <c:grouping val="clustered"/>
        <c:varyColors val="0"/>
        <c:ser>
          <c:idx val="0"/>
          <c:order val="0"/>
          <c:tx>
            <c:strRef>
              <c:f>Sheet1!$B$1</c:f>
              <c:strCache>
                <c:ptCount val="1"/>
                <c:pt idx="0">
                  <c:v>Alunos</c:v>
                </c:pt>
              </c:strCache>
            </c:strRef>
          </c:tx>
          <c:spPr>
            <a:solidFill>
              <a:srgbClr val="F96167"/>
            </a:solidFill>
            <a:effectLst/>
          </c:spPr>
          <c:invertIfNegative val="0"/>
          <c:dLbls>
            <c:numFmt formatCode="#,##0" sourceLinked="0"/>
            <c:txPr>
              <a:bodyPr/>
              <a:lstStyle/>
              <a:p>
                <a:pPr>
                  <a:defRPr b="0" i="0" strike="noStrike" sz="1100" u="none">
                    <a:solidFill>
                      <a:srgbClr val="22252B"/>
                    </a:solidFill>
                    <a:latin typeface="Arial"/>
                  </a:defRPr>
                </a:pPr>
              </a:p>
            </c:txPr>
            <c:showLegendKey val="0"/>
            <c:showVal val="1"/>
            <c:showCatName val="0"/>
            <c:showSerName val="0"/>
            <c:showPercent val="0"/>
            <c:showBubbleSize val="0"/>
            <c:showLeaderLines val="0"/>
          </c:dLbls>
          <c:cat>
            <c:multiLvlStrRef>
              <c:f>Sheet1!$A$2:$A$5</c:f>
              <c:multiLvlStrCache>
                <c:ptCount val="4"/>
                <c:lvl>
                  <c:pt idx="0">
                    <c:v>Treino A</c:v>
                  </c:pt>
                  <c:pt idx="1">
                    <c:v>Treino B</c:v>
                  </c:pt>
                  <c:pt idx="2">
                    <c:v>Treino C</c:v>
                  </c:pt>
                  <c:pt idx="3">
                    <c:v>Treino D</c:v>
                  </c:pt>
                </c:lvl>
              </c:multiLvlStrCache>
            </c:multiLvlStrRef>
          </c:cat>
          <c:val>
            <c:numRef>
              <c:f>Sheet1!$B$2:$B$5</c:f>
              <c:numCache>
                <c:formatCode>General</c:formatCode>
                <c:ptCount val="4"/>
                <c:pt idx="0">
                  <c:v>74</c:v>
                </c:pt>
                <c:pt idx="1">
                  <c:v>54</c:v>
                </c:pt>
                <c:pt idx="2">
                  <c:v>80</c:v>
                </c:pt>
                <c:pt idx="3">
                  <c:v>92</c:v>
                </c:pt>
              </c:numCache>
            </c:numRef>
          </c:val>
        </c:ser>
        <c:dLbls>
          <c:numFmt formatCode="#,##0" sourceLinked="0"/>
          <c:txPr>
            <a:bodyPr/>
            <a:lstStyle/>
            <a:p>
              <a:pPr>
                <a:defRPr b="0" i="0" strike="noStrike" sz="1100" u="none">
                  <a:solidFill>
                    <a:srgbClr val="22252B"/>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2252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DEF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Meu projeto é um sistema de recomendação de treinos personalizados para academia. Ele sugere exercícios com base em informações que o próprio aluno fornece: saúde, peso e o resultado que ele busca com o treino.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problema que eu escolhi resolver é: como recomendar automaticamente um treino adequado pra um aluno, considerando o perfil dele — idade, objetivo, experiência, disponibilidade e restrições físicas. Isso é útil tanto para o próprio aluno quanto para professores de educação física, porque montar um treino personalizado pra cada pessoa, na mão, não escala quando você tem muitos alunos. Por isso faz sentido usar IA aqui: um modelo consegue aprender esse padrão a partir de exemplos e aplicar de forma consistente pra qualquer novo aluno.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Esse é um problema de classificação supervisionada: a partir de características de entrada — idade, objetivo, nível de experiência, dias disponíveis, restrição física e equipamento — o modelo prevê uma categoria de treino, a variável de saída. Existem soluções parecidas, como Fitbod e BodBot, que também usam objetivo, nível e equipamento. A diferença é que eles ajustam o treino sessão a sessão. O meu projeto é um classificador único, treinado sobre vários alunos, que recomenda uma categoria a partir do perfil, sem esse ajuste incremental.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abordagem que escolhi foi Árvore de Decisão. Primeiro, porque ela é interpretável — dá pra visualizar as regras que levaram a cada recomendação. Segundo, porque meus dados são majoritariamente categóricos. Pensei em regras fixas, mas isso exigiria prever manualmente todas as combinações de seis atributos. A árvore aprende essas combinações direto dos dados e continua explicável.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Minha base tem 300 alunos simulados, com 8 colunas — 6 features de entrada e uma variável de saída. Os dados são sintéticos: gerei em Python, com pandas e numpy, a partir de distribuições estatísticas e regras de associação, com 8% de ruído proposital pra simular exceções reais. É um dataset próprio, de uso livre pra fins acadêmicos, e já está no plano ser substituído por dados reais nos Encontros 5 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Aqui está o dicionário de dados resumido. Seis variáveis de entrada e uma variável de saída, o treino recomendado, que pode ser Treino A, B, C ou D. Não vou ler cada linha, mas destaco que boa parte das variáveis é categórica, e que a base atual não tem valores ausentes.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idade média dos alunos é de 29,3 anos, com desvio padrão de quase 8 anos — dispersão relevante, de 16 a 51 anos. A disponibilidade média é de 3,4 dias por semana. Na distribuição do treino recomendado, as quatro categorias ficaram com frequências relativamente próximas — Treino D é o mais frequente, com 92 alunos, e Treino B o menos frequente, com 54. Um bom equilíbrio entre as classes favorece o treinamento do classificador mais pra frente.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Não há dados ausentes nem duplicados, mas isso é meio artificial, porque a base é sintética. Encontrei inconsistências de nomenclatura, variáveis ordinais como texto, e ruído de rótulo de 8%, proposital. Tem desbalanceamento leve, e um viés: alunos sem equipamento, cerca de 7% da base, têm quase sempre o Treino D, porque essa foi a regra de geração — viés de amostragem que exige cuidado quando trocar pela base real. As ações já estão planejadas: troca pela base real nos Encontros 5 e 8, padronização de nomenclatura, e reavaliação da granularidade das categorias.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próximos passos: no Encontro 8 eu preparo e trato os dados; no Encontro 9, treino o modelo de árvore de decisão; depois avalio o desempenho com F1-macro e matriz de confusão, olhando também o desempenho por subgrupo; e por fim, apresento o projeto completo na AP2. Obrigado! Fico à disposição para perguntas.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F3C7E"/>
        </a:solidFill>
      </p:bgPr>
    </p:bg>
    <p:spTree>
      <p:nvGrpSpPr>
        <p:cNvPr id="1" name=""/>
        <p:cNvGrpSpPr/>
        <p:nvPr/>
      </p:nvGrpSpPr>
      <p:grpSpPr>
        <a:xfrm>
          <a:off x="0" y="0"/>
          <a:ext cx="0" cy="0"/>
          <a:chOff x="0" y="0"/>
          <a:chExt cx="0" cy="0"/>
        </a:xfrm>
      </p:grpSpPr>
      <p:sp>
        <p:nvSpPr>
          <p:cNvPr id="2" name="Shape 0"/>
          <p:cNvSpPr/>
          <p:nvPr/>
        </p:nvSpPr>
        <p:spPr>
          <a:xfrm>
            <a:off x="9692640" y="-1097280"/>
            <a:ext cx="3840480" cy="3840480"/>
          </a:xfrm>
          <a:prstGeom prst="ellipse">
            <a:avLst/>
          </a:prstGeom>
          <a:solidFill>
            <a:srgbClr val="3B4A96"/>
          </a:solidFill>
          <a:ln/>
        </p:spPr>
      </p:sp>
      <p:sp>
        <p:nvSpPr>
          <p:cNvPr id="3" name="Shape 1"/>
          <p:cNvSpPr/>
          <p:nvPr/>
        </p:nvSpPr>
        <p:spPr>
          <a:xfrm>
            <a:off x="10789920" y="4389120"/>
            <a:ext cx="2743200" cy="2743200"/>
          </a:xfrm>
          <a:prstGeom prst="ellipse">
            <a:avLst/>
          </a:prstGeom>
          <a:solidFill>
            <a:srgbClr val="3B4A96"/>
          </a:solidFill>
          <a:ln/>
        </p:spPr>
      </p:sp>
      <p:sp>
        <p:nvSpPr>
          <p:cNvPr id="4" name="Text 2"/>
          <p:cNvSpPr txBox="1"/>
          <p:nvPr/>
        </p:nvSpPr>
        <p:spPr>
          <a:xfrm>
            <a:off x="731520" y="2286000"/>
            <a:ext cx="9601200" cy="173736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Recomendação de Treinos</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Personalizados em Academia</a:t>
            </a:r>
            <a:endParaRPr lang="en-US" sz="4000" dirty="0"/>
          </a:p>
        </p:txBody>
      </p:sp>
      <p:sp>
        <p:nvSpPr>
          <p:cNvPr id="5" name="Text 3"/>
          <p:cNvSpPr txBox="1"/>
          <p:nvPr/>
        </p:nvSpPr>
        <p:spPr>
          <a:xfrm>
            <a:off x="731520" y="3977640"/>
            <a:ext cx="9144000" cy="457200"/>
          </a:xfrm>
          <a:prstGeom prst="rect">
            <a:avLst/>
          </a:prstGeom>
          <a:noFill/>
          <a:ln/>
        </p:spPr>
        <p:txBody>
          <a:bodyPr wrap="square" lIns="0" tIns="0" rIns="0" bIns="0" rtlCol="0" anchor="ctr"/>
          <a:lstStyle/>
          <a:p>
            <a:pPr indent="0" marL="0">
              <a:buNone/>
            </a:pPr>
            <a:r>
              <a:rPr lang="en-US" sz="1800" dirty="0">
                <a:solidFill>
                  <a:srgbClr val="F9E795"/>
                </a:solidFill>
                <a:latin typeface="Calibri" pitchFamily="34" charset="0"/>
                <a:ea typeface="Calibri" pitchFamily="34" charset="-122"/>
                <a:cs typeface="Calibri" pitchFamily="34" charset="-120"/>
              </a:rPr>
              <a:t>AP1 — Proposta, problema, dados e primeira análise</a:t>
            </a:r>
            <a:endParaRPr lang="en-US" sz="1800" dirty="0"/>
          </a:p>
        </p:txBody>
      </p:sp>
      <p:sp>
        <p:nvSpPr>
          <p:cNvPr id="6" name="Shape 4"/>
          <p:cNvSpPr/>
          <p:nvPr/>
        </p:nvSpPr>
        <p:spPr>
          <a:xfrm>
            <a:off x="777240" y="4617720"/>
            <a:ext cx="2011680" cy="0"/>
          </a:xfrm>
          <a:prstGeom prst="line">
            <a:avLst/>
          </a:prstGeom>
          <a:noFill/>
          <a:ln w="38100">
            <a:solidFill>
              <a:srgbClr val="F96167"/>
            </a:solidFill>
            <a:prstDash val="solid"/>
          </a:ln>
        </p:spPr>
      </p:sp>
      <p:sp>
        <p:nvSpPr>
          <p:cNvPr id="7" name="Text 5"/>
          <p:cNvSpPr txBox="1"/>
          <p:nvPr/>
        </p:nvSpPr>
        <p:spPr>
          <a:xfrm>
            <a:off x="731520" y="6035040"/>
            <a:ext cx="100584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Vinicius do Canto Casagrande  ·  Fundamentos de Inteligência Artificial — ADS/ULBRA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9144000" cy="274320"/>
          </a:xfrm>
          <a:prstGeom prst="rect">
            <a:avLst/>
          </a:prstGeom>
          <a:noFill/>
          <a:ln/>
        </p:spPr>
        <p:txBody>
          <a:bodyPr wrap="square" lIns="0" tIns="0" rIns="0" bIns="0" rtlCol="0" anchor="ctr"/>
          <a:lstStyle/>
          <a:p>
            <a:pPr indent="0" marL="0">
              <a:buNone/>
            </a:pPr>
            <a:r>
              <a:rPr lang="en-US" sz="1200" b="1" spc="200" kern="0" dirty="0">
                <a:solidFill>
                  <a:srgbClr val="F96167"/>
                </a:solidFill>
                <a:latin typeface="Calibri" pitchFamily="34" charset="0"/>
                <a:ea typeface="Calibri" pitchFamily="34" charset="-122"/>
                <a:cs typeface="Calibri" pitchFamily="34" charset="-120"/>
              </a:rPr>
              <a:t>1. PROBLEMA E JUSTIFICATIVA</a:t>
            </a:r>
            <a:endParaRPr lang="en-US" sz="1200" dirty="0"/>
          </a:p>
        </p:txBody>
      </p:sp>
      <p:sp>
        <p:nvSpPr>
          <p:cNvPr id="3" name="Text 1"/>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200" b="1" dirty="0">
                <a:solidFill>
                  <a:srgbClr val="2F3C7E"/>
                </a:solidFill>
                <a:latin typeface="Cambria" pitchFamily="34" charset="0"/>
                <a:ea typeface="Cambria" pitchFamily="34" charset="-122"/>
                <a:cs typeface="Cambria" pitchFamily="34" charset="-120"/>
              </a:rPr>
              <a:t>Recomendar o treino certo, automaticamente</a:t>
            </a:r>
            <a:endParaRPr lang="en-US" sz="3200" dirty="0"/>
          </a:p>
        </p:txBody>
      </p:sp>
      <p:sp>
        <p:nvSpPr>
          <p:cNvPr id="4" name="Text 2"/>
          <p:cNvSpPr txBox="1"/>
          <p:nvPr/>
        </p:nvSpPr>
        <p:spPr>
          <a:xfrm>
            <a:off x="548640" y="1463040"/>
            <a:ext cx="6309360" cy="1737360"/>
          </a:xfrm>
          <a:prstGeom prst="rect">
            <a:avLst/>
          </a:prstGeom>
          <a:noFill/>
          <a:ln/>
        </p:spPr>
        <p:txBody>
          <a:bodyPr wrap="square" lIns="0" tIns="0" rIns="0" bIns="0" rtlCol="0" anchor="ctr"/>
          <a:lstStyle/>
          <a:p>
            <a:pPr indent="0" marL="0">
              <a:lnSpc>
                <a:spcPct val="125000"/>
              </a:lnSpc>
              <a:buNone/>
            </a:pPr>
            <a:r>
              <a:rPr lang="en-US" sz="1500" dirty="0">
                <a:solidFill>
                  <a:srgbClr val="22252B"/>
                </a:solidFill>
                <a:latin typeface="Calibri" pitchFamily="34" charset="0"/>
                <a:ea typeface="Calibri" pitchFamily="34" charset="-122"/>
                <a:cs typeface="Calibri" pitchFamily="34" charset="-120"/>
              </a:rPr>
              <a:t>Alunos de academia chegam com objetivos, experiência e disponibilidade diferentes. Montar um treino adequado para cada um depende de cruzar várias variáveis ao mesmo tempo — algo trabalhoso de fazer manualmente em escala.</a:t>
            </a:r>
            <a:endParaRPr lang="en-US" sz="1500" dirty="0"/>
          </a:p>
        </p:txBody>
      </p:sp>
      <p:sp>
        <p:nvSpPr>
          <p:cNvPr id="5" name="Text 3"/>
          <p:cNvSpPr txBox="1"/>
          <p:nvPr/>
        </p:nvSpPr>
        <p:spPr>
          <a:xfrm>
            <a:off x="548640" y="3246120"/>
            <a:ext cx="6309360" cy="320040"/>
          </a:xfrm>
          <a:prstGeom prst="rect">
            <a:avLst/>
          </a:prstGeom>
          <a:noFill/>
          <a:ln/>
        </p:spPr>
        <p:txBody>
          <a:bodyPr wrap="square" lIns="0" tIns="0" rIns="0" bIns="0" rtlCol="0" anchor="ctr"/>
          <a:lstStyle/>
          <a:p>
            <a:pPr indent="0" marL="0">
              <a:buNone/>
            </a:pPr>
            <a:r>
              <a:rPr lang="en-US" sz="1400" b="1" dirty="0">
                <a:solidFill>
                  <a:srgbClr val="2F3C7E"/>
                </a:solidFill>
                <a:latin typeface="Calibri" pitchFamily="34" charset="0"/>
                <a:ea typeface="Calibri" pitchFamily="34" charset="-122"/>
                <a:cs typeface="Calibri" pitchFamily="34" charset="-120"/>
              </a:rPr>
              <a:t>Por que IA:</a:t>
            </a:r>
            <a:endParaRPr lang="en-US" sz="1400" dirty="0"/>
          </a:p>
        </p:txBody>
      </p:sp>
      <p:sp>
        <p:nvSpPr>
          <p:cNvPr id="6" name="Text 4"/>
          <p:cNvSpPr txBox="1"/>
          <p:nvPr/>
        </p:nvSpPr>
        <p:spPr>
          <a:xfrm>
            <a:off x="548640" y="3611880"/>
            <a:ext cx="6309360" cy="1188720"/>
          </a:xfrm>
          <a:prstGeom prst="rect">
            <a:avLst/>
          </a:prstGeom>
          <a:noFill/>
          <a:ln/>
        </p:spPr>
        <p:txBody>
          <a:bodyPr wrap="square" lIns="0" tIns="0" rIns="0" bIns="0" rtlCol="0" anchor="ctr"/>
          <a:lstStyle/>
          <a:p>
            <a:pPr indent="0" marL="0">
              <a:lnSpc>
                <a:spcPct val="120000"/>
              </a:lnSpc>
              <a:buNone/>
            </a:pPr>
            <a:r>
              <a:rPr lang="en-US" sz="1400" dirty="0">
                <a:solidFill>
                  <a:srgbClr val="22252B"/>
                </a:solidFill>
                <a:latin typeface="Calibri" pitchFamily="34" charset="0"/>
                <a:ea typeface="Calibri" pitchFamily="34" charset="-122"/>
                <a:cs typeface="Calibri" pitchFamily="34" charset="-120"/>
              </a:rPr>
              <a:t>Um modelo aprende o padrão a partir de exemplos e sugere a recomendação de forma consistente e escalável, em vez de depender de um profissional montar cada treino manualmente.</a:t>
            </a:r>
            <a:endParaRPr lang="en-US" sz="1400" dirty="0"/>
          </a:p>
        </p:txBody>
      </p:sp>
      <p:sp>
        <p:nvSpPr>
          <p:cNvPr id="7" name="Shape 5"/>
          <p:cNvSpPr/>
          <p:nvPr/>
        </p:nvSpPr>
        <p:spPr>
          <a:xfrm>
            <a:off x="7315200" y="1463040"/>
            <a:ext cx="4297680" cy="1417320"/>
          </a:xfrm>
          <a:prstGeom prst="roundRect">
            <a:avLst>
              <a:gd name="adj" fmla="val 6452"/>
            </a:avLst>
          </a:prstGeom>
          <a:solidFill>
            <a:srgbClr val="F4F5FA"/>
          </a:solidFill>
          <a:ln/>
        </p:spPr>
      </p:sp>
      <p:sp>
        <p:nvSpPr>
          <p:cNvPr id="8" name="Shape 6"/>
          <p:cNvSpPr/>
          <p:nvPr/>
        </p:nvSpPr>
        <p:spPr>
          <a:xfrm>
            <a:off x="7589520" y="1691640"/>
            <a:ext cx="457200" cy="457200"/>
          </a:xfrm>
          <a:prstGeom prst="ellipse">
            <a:avLst/>
          </a:prstGeom>
          <a:solidFill>
            <a:srgbClr val="F96167"/>
          </a:solidFill>
          <a:ln/>
        </p:spPr>
      </p:sp>
      <p:sp>
        <p:nvSpPr>
          <p:cNvPr id="9" name="Text 7"/>
          <p:cNvSpPr txBox="1"/>
          <p:nvPr/>
        </p:nvSpPr>
        <p:spPr>
          <a:xfrm>
            <a:off x="7589520" y="1691640"/>
            <a:ext cx="457200" cy="45720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0" name="Text 8"/>
          <p:cNvSpPr txBox="1"/>
          <p:nvPr/>
        </p:nvSpPr>
        <p:spPr>
          <a:xfrm>
            <a:off x="8229600" y="1627632"/>
            <a:ext cx="3200400" cy="274320"/>
          </a:xfrm>
          <a:prstGeom prst="rect">
            <a:avLst/>
          </a:prstGeom>
          <a:noFill/>
          <a:ln/>
        </p:spPr>
        <p:txBody>
          <a:bodyPr wrap="square" lIns="0" tIns="0" rIns="0" bIns="0" rtlCol="0" anchor="ctr"/>
          <a:lstStyle/>
          <a:p>
            <a:pPr indent="0" marL="0">
              <a:buNone/>
            </a:pPr>
            <a:r>
              <a:rPr lang="en-US" sz="1300" b="1" dirty="0">
                <a:solidFill>
                  <a:srgbClr val="2F3C7E"/>
                </a:solidFill>
                <a:latin typeface="Calibri" pitchFamily="34" charset="0"/>
                <a:ea typeface="Calibri" pitchFamily="34" charset="-122"/>
                <a:cs typeface="Calibri" pitchFamily="34" charset="-120"/>
              </a:rPr>
              <a:t>Domínio</a:t>
            </a:r>
            <a:endParaRPr lang="en-US" sz="1300" dirty="0"/>
          </a:p>
        </p:txBody>
      </p:sp>
      <p:sp>
        <p:nvSpPr>
          <p:cNvPr id="11" name="Text 9"/>
          <p:cNvSpPr txBox="1"/>
          <p:nvPr/>
        </p:nvSpPr>
        <p:spPr>
          <a:xfrm>
            <a:off x="8229600" y="1920240"/>
            <a:ext cx="3200400" cy="822960"/>
          </a:xfrm>
          <a:prstGeom prst="rect">
            <a:avLst/>
          </a:prstGeom>
          <a:noFill/>
          <a:ln/>
        </p:spPr>
        <p:txBody>
          <a:bodyPr wrap="square" lIns="0" tIns="0" rIns="0" bIns="0" rtlCol="0" anchor="ctr"/>
          <a:lstStyle/>
          <a:p>
            <a:pPr indent="0" marL="0">
              <a:lnSpc>
                <a:spcPct val="115000"/>
              </a:lnSpc>
              <a:buNone/>
            </a:pPr>
            <a:r>
              <a:rPr lang="en-US" sz="1200" dirty="0">
                <a:solidFill>
                  <a:srgbClr val="22252B"/>
                </a:solidFill>
                <a:latin typeface="Calibri" pitchFamily="34" charset="0"/>
                <a:ea typeface="Calibri" pitchFamily="34" charset="-122"/>
                <a:cs typeface="Calibri" pitchFamily="34" charset="-120"/>
              </a:rPr>
              <a:t>Academia — recomendação de treinos e exercícios personalizados</a:t>
            </a:r>
            <a:endParaRPr lang="en-US" sz="1200" dirty="0"/>
          </a:p>
        </p:txBody>
      </p:sp>
      <p:sp>
        <p:nvSpPr>
          <p:cNvPr id="12" name="Shape 10"/>
          <p:cNvSpPr/>
          <p:nvPr/>
        </p:nvSpPr>
        <p:spPr>
          <a:xfrm>
            <a:off x="7315200" y="3063240"/>
            <a:ext cx="4297680" cy="1417320"/>
          </a:xfrm>
          <a:prstGeom prst="roundRect">
            <a:avLst>
              <a:gd name="adj" fmla="val 6452"/>
            </a:avLst>
          </a:prstGeom>
          <a:solidFill>
            <a:srgbClr val="F4F5FA"/>
          </a:solidFill>
          <a:ln/>
        </p:spPr>
      </p:sp>
      <p:sp>
        <p:nvSpPr>
          <p:cNvPr id="13" name="Text 11"/>
          <p:cNvSpPr txBox="1"/>
          <p:nvPr/>
        </p:nvSpPr>
        <p:spPr>
          <a:xfrm>
            <a:off x="7589520" y="3291840"/>
            <a:ext cx="457200" cy="45720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4" name="Text 12"/>
          <p:cNvSpPr txBox="1"/>
          <p:nvPr/>
        </p:nvSpPr>
        <p:spPr>
          <a:xfrm>
            <a:off x="8229600" y="3227832"/>
            <a:ext cx="3200400" cy="274320"/>
          </a:xfrm>
          <a:prstGeom prst="rect">
            <a:avLst/>
          </a:prstGeom>
          <a:noFill/>
          <a:ln/>
        </p:spPr>
        <p:txBody>
          <a:bodyPr wrap="square" lIns="0" tIns="0" rIns="0" bIns="0" rtlCol="0" anchor="ctr"/>
          <a:lstStyle/>
          <a:p>
            <a:pPr indent="0" marL="0">
              <a:buNone/>
            </a:pPr>
            <a:r>
              <a:rPr lang="en-US" sz="1300" b="1" dirty="0">
                <a:solidFill>
                  <a:srgbClr val="2F3C7E"/>
                </a:solidFill>
                <a:latin typeface="Calibri" pitchFamily="34" charset="0"/>
                <a:ea typeface="Calibri" pitchFamily="34" charset="-122"/>
                <a:cs typeface="Calibri" pitchFamily="34" charset="-120"/>
              </a:rPr>
              <a:t>Público</a:t>
            </a:r>
            <a:endParaRPr lang="en-US" sz="1300" dirty="0"/>
          </a:p>
        </p:txBody>
      </p:sp>
      <p:sp>
        <p:nvSpPr>
          <p:cNvPr id="15" name="Text 13"/>
          <p:cNvSpPr txBox="1"/>
          <p:nvPr/>
        </p:nvSpPr>
        <p:spPr>
          <a:xfrm>
            <a:off x="8229600" y="3520440"/>
            <a:ext cx="3200400" cy="914400"/>
          </a:xfrm>
          <a:prstGeom prst="rect">
            <a:avLst/>
          </a:prstGeom>
          <a:noFill/>
          <a:ln/>
        </p:spPr>
        <p:txBody>
          <a:bodyPr wrap="square" lIns="0" tIns="0" rIns="0" bIns="0" rtlCol="0" anchor="ctr"/>
          <a:lstStyle/>
          <a:p>
            <a:pPr indent="0" marL="0">
              <a:lnSpc>
                <a:spcPct val="115000"/>
              </a:lnSpc>
              <a:buNone/>
            </a:pPr>
            <a:r>
              <a:rPr lang="en-US" sz="1200" dirty="0">
                <a:solidFill>
                  <a:srgbClr val="22252B"/>
                </a:solidFill>
                <a:latin typeface="Calibri" pitchFamily="34" charset="0"/>
                <a:ea typeface="Calibri" pitchFamily="34" charset="-122"/>
                <a:cs typeface="Calibri" pitchFamily="34" charset="-120"/>
              </a:rPr>
              <a:t>Alunos de academia e profissionais de educação física que precisam montar treinos mais rápido</a:t>
            </a:r>
            <a:endParaRPr lang="en-US" sz="1200" dirty="0"/>
          </a:p>
        </p:txBody>
      </p:sp>
      <p:sp>
        <p:nvSpPr>
          <p:cNvPr id="16" name="Shape 14"/>
          <p:cNvSpPr/>
          <p:nvPr/>
        </p:nvSpPr>
        <p:spPr>
          <a:xfrm>
            <a:off x="7315200" y="4663440"/>
            <a:ext cx="4297680" cy="1051560"/>
          </a:xfrm>
          <a:prstGeom prst="roundRect">
            <a:avLst>
              <a:gd name="adj" fmla="val 8696"/>
            </a:avLst>
          </a:prstGeom>
          <a:solidFill>
            <a:srgbClr val="F96167"/>
          </a:solidFill>
          <a:ln/>
        </p:spPr>
      </p:sp>
      <p:sp>
        <p:nvSpPr>
          <p:cNvPr id="17" name="Text 15"/>
          <p:cNvSpPr txBox="1"/>
          <p:nvPr/>
        </p:nvSpPr>
        <p:spPr>
          <a:xfrm>
            <a:off x="7589520" y="4663440"/>
            <a:ext cx="3749040" cy="1051560"/>
          </a:xfrm>
          <a:prstGeom prst="rect">
            <a:avLst/>
          </a:prstGeom>
          <a:noFill/>
          <a:ln/>
        </p:spPr>
        <p:txBody>
          <a:bodyPr wrap="square" lIns="0" tIns="0" rIns="0" bIns="0" rtlCol="0" anchor="ctr"/>
          <a:lstStyle/>
          <a:p>
            <a:pPr indent="0" marL="0">
              <a:lnSpc>
                <a:spcPct val="120000"/>
              </a:lnSpc>
              <a:buNone/>
            </a:pPr>
            <a:r>
              <a:rPr lang="en-US" sz="1250" i="1" dirty="0">
                <a:solidFill>
                  <a:srgbClr val="FFFFFF"/>
                </a:solidFill>
                <a:latin typeface="Calibri" pitchFamily="34" charset="0"/>
                <a:ea typeface="Calibri" pitchFamily="34" charset="-122"/>
                <a:cs typeface="Calibri" pitchFamily="34" charset="-120"/>
              </a:rPr>
              <a:t>Sem IA: montar cada treino manualmente não escala para muitos alunos.</a:t>
            </a:r>
            <a:endParaRPr lang="en-US" sz="1250" dirty="0"/>
          </a:p>
        </p:txBody>
      </p:sp>
      <p:sp>
        <p:nvSpPr>
          <p:cNvPr id="19" name="Text 16"/>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Recomendação de Treinos Personalizados — AP1</a:t>
            </a:r>
            <a:endParaRPr lang="en-US" sz="900" dirty="0"/>
          </a:p>
        </p:txBody>
      </p:sp>
      <p:sp>
        <p:nvSpPr>
          <p:cNvPr id="20" name="Text 17"/>
          <p:cNvSpPr txBox="1"/>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9144000" cy="274320"/>
          </a:xfrm>
          <a:prstGeom prst="rect">
            <a:avLst/>
          </a:prstGeom>
          <a:noFill/>
          <a:ln/>
        </p:spPr>
        <p:txBody>
          <a:bodyPr wrap="square" lIns="0" tIns="0" rIns="0" bIns="0" rtlCol="0" anchor="ctr"/>
          <a:lstStyle/>
          <a:p>
            <a:pPr indent="0" marL="0">
              <a:buNone/>
            </a:pPr>
            <a:r>
              <a:rPr lang="en-US" sz="1200" b="1" spc="200" kern="0" dirty="0">
                <a:solidFill>
                  <a:srgbClr val="F96167"/>
                </a:solidFill>
                <a:latin typeface="Calibri" pitchFamily="34" charset="0"/>
                <a:ea typeface="Calibri" pitchFamily="34" charset="-122"/>
                <a:cs typeface="Calibri" pitchFamily="34" charset="-120"/>
              </a:rPr>
              <a:t>2. CONTEXTO E TIPO DE PROBLEMA</a:t>
            </a:r>
            <a:endParaRPr lang="en-US" sz="1200" dirty="0"/>
          </a:p>
        </p:txBody>
      </p:sp>
      <p:sp>
        <p:nvSpPr>
          <p:cNvPr id="3" name="Text 1"/>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200" b="1" dirty="0">
                <a:solidFill>
                  <a:srgbClr val="2F3C7E"/>
                </a:solidFill>
                <a:latin typeface="Cambria" pitchFamily="34" charset="0"/>
                <a:ea typeface="Cambria" pitchFamily="34" charset="-122"/>
                <a:cs typeface="Cambria" pitchFamily="34" charset="-120"/>
              </a:rPr>
              <a:t>Classificação supervisionada</a:t>
            </a:r>
            <a:endParaRPr lang="en-US" sz="3200" dirty="0"/>
          </a:p>
        </p:txBody>
      </p:sp>
      <p:sp>
        <p:nvSpPr>
          <p:cNvPr id="4" name="Text 2"/>
          <p:cNvSpPr txBox="1"/>
          <p:nvPr/>
        </p:nvSpPr>
        <p:spPr>
          <a:xfrm>
            <a:off x="548640" y="1417320"/>
            <a:ext cx="5120640" cy="292608"/>
          </a:xfrm>
          <a:prstGeom prst="rect">
            <a:avLst/>
          </a:prstGeom>
          <a:noFill/>
          <a:ln/>
        </p:spPr>
        <p:txBody>
          <a:bodyPr wrap="square" lIns="0" tIns="0" rIns="0" bIns="0" rtlCol="0" anchor="ctr"/>
          <a:lstStyle/>
          <a:p>
            <a:pPr indent="0" marL="0">
              <a:buNone/>
            </a:pPr>
            <a:r>
              <a:rPr lang="en-US" sz="1400" b="1" dirty="0">
                <a:solidFill>
                  <a:srgbClr val="2F3C7E"/>
                </a:solidFill>
                <a:latin typeface="Calibri" pitchFamily="34" charset="0"/>
                <a:ea typeface="Calibri" pitchFamily="34" charset="-122"/>
                <a:cs typeface="Calibri" pitchFamily="34" charset="-120"/>
              </a:rPr>
              <a:t>Entradas (features)</a:t>
            </a:r>
            <a:endParaRPr lang="en-US" sz="1400" dirty="0"/>
          </a:p>
        </p:txBody>
      </p:sp>
      <p:sp>
        <p:nvSpPr>
          <p:cNvPr id="5" name="Shape 3"/>
          <p:cNvSpPr/>
          <p:nvPr/>
        </p:nvSpPr>
        <p:spPr>
          <a:xfrm>
            <a:off x="548640" y="1828800"/>
            <a:ext cx="109728" cy="109728"/>
          </a:xfrm>
          <a:prstGeom prst="ellipse">
            <a:avLst/>
          </a:prstGeom>
          <a:solidFill>
            <a:srgbClr val="F96167"/>
          </a:solidFill>
          <a:ln/>
        </p:spPr>
      </p:sp>
      <p:sp>
        <p:nvSpPr>
          <p:cNvPr id="6" name="Text 4"/>
          <p:cNvSpPr txBox="1"/>
          <p:nvPr/>
        </p:nvSpPr>
        <p:spPr>
          <a:xfrm>
            <a:off x="777240" y="1728216"/>
            <a:ext cx="2286000" cy="320040"/>
          </a:xfrm>
          <a:prstGeom prst="rect">
            <a:avLst/>
          </a:prstGeom>
          <a:noFill/>
          <a:ln/>
        </p:spPr>
        <p:txBody>
          <a:bodyPr wrap="square" lIns="0" tIns="0" rIns="0" bIns="0" rtlCol="0" anchor="ctr"/>
          <a:lstStyle/>
          <a:p>
            <a:pPr indent="0" marL="0">
              <a:buNone/>
            </a:pPr>
            <a:r>
              <a:rPr lang="en-US" sz="1250" dirty="0">
                <a:solidFill>
                  <a:srgbClr val="22252B"/>
                </a:solidFill>
                <a:latin typeface="Calibri" pitchFamily="34" charset="0"/>
                <a:ea typeface="Calibri" pitchFamily="34" charset="-122"/>
                <a:cs typeface="Calibri" pitchFamily="34" charset="-120"/>
              </a:rPr>
              <a:t>idade</a:t>
            </a:r>
            <a:endParaRPr lang="en-US" sz="1250" dirty="0"/>
          </a:p>
        </p:txBody>
      </p:sp>
      <p:sp>
        <p:nvSpPr>
          <p:cNvPr id="7" name="Shape 5"/>
          <p:cNvSpPr/>
          <p:nvPr/>
        </p:nvSpPr>
        <p:spPr>
          <a:xfrm>
            <a:off x="3154680" y="1828800"/>
            <a:ext cx="109728" cy="109728"/>
          </a:xfrm>
          <a:prstGeom prst="ellipse">
            <a:avLst/>
          </a:prstGeom>
          <a:solidFill>
            <a:srgbClr val="F96167"/>
          </a:solidFill>
          <a:ln/>
        </p:spPr>
      </p:sp>
      <p:sp>
        <p:nvSpPr>
          <p:cNvPr id="8" name="Text 6"/>
          <p:cNvSpPr txBox="1"/>
          <p:nvPr/>
        </p:nvSpPr>
        <p:spPr>
          <a:xfrm>
            <a:off x="3383280" y="1728216"/>
            <a:ext cx="2286000" cy="320040"/>
          </a:xfrm>
          <a:prstGeom prst="rect">
            <a:avLst/>
          </a:prstGeom>
          <a:noFill/>
          <a:ln/>
        </p:spPr>
        <p:txBody>
          <a:bodyPr wrap="square" lIns="0" tIns="0" rIns="0" bIns="0" rtlCol="0" anchor="ctr"/>
          <a:lstStyle/>
          <a:p>
            <a:pPr indent="0" marL="0">
              <a:buNone/>
            </a:pPr>
            <a:r>
              <a:rPr lang="en-US" sz="1250" dirty="0">
                <a:solidFill>
                  <a:srgbClr val="22252B"/>
                </a:solidFill>
                <a:latin typeface="Calibri" pitchFamily="34" charset="0"/>
                <a:ea typeface="Calibri" pitchFamily="34" charset="-122"/>
                <a:cs typeface="Calibri" pitchFamily="34" charset="-120"/>
              </a:rPr>
              <a:t>objetivo</a:t>
            </a:r>
            <a:endParaRPr lang="en-US" sz="1250" dirty="0"/>
          </a:p>
        </p:txBody>
      </p:sp>
      <p:sp>
        <p:nvSpPr>
          <p:cNvPr id="9" name="Shape 7"/>
          <p:cNvSpPr/>
          <p:nvPr/>
        </p:nvSpPr>
        <p:spPr>
          <a:xfrm>
            <a:off x="548640" y="2212848"/>
            <a:ext cx="109728" cy="109728"/>
          </a:xfrm>
          <a:prstGeom prst="ellipse">
            <a:avLst/>
          </a:prstGeom>
          <a:solidFill>
            <a:srgbClr val="F96167"/>
          </a:solidFill>
          <a:ln/>
        </p:spPr>
      </p:sp>
      <p:sp>
        <p:nvSpPr>
          <p:cNvPr id="10" name="Text 8"/>
          <p:cNvSpPr txBox="1"/>
          <p:nvPr/>
        </p:nvSpPr>
        <p:spPr>
          <a:xfrm>
            <a:off x="777240" y="2112264"/>
            <a:ext cx="2286000" cy="320040"/>
          </a:xfrm>
          <a:prstGeom prst="rect">
            <a:avLst/>
          </a:prstGeom>
          <a:noFill/>
          <a:ln/>
        </p:spPr>
        <p:txBody>
          <a:bodyPr wrap="square" lIns="0" tIns="0" rIns="0" bIns="0" rtlCol="0" anchor="ctr"/>
          <a:lstStyle/>
          <a:p>
            <a:pPr indent="0" marL="0">
              <a:buNone/>
            </a:pPr>
            <a:r>
              <a:rPr lang="en-US" sz="1250" dirty="0">
                <a:solidFill>
                  <a:srgbClr val="22252B"/>
                </a:solidFill>
                <a:latin typeface="Calibri" pitchFamily="34" charset="0"/>
                <a:ea typeface="Calibri" pitchFamily="34" charset="-122"/>
                <a:cs typeface="Calibri" pitchFamily="34" charset="-120"/>
              </a:rPr>
              <a:t>nível de experiência</a:t>
            </a:r>
            <a:endParaRPr lang="en-US" sz="1250" dirty="0"/>
          </a:p>
        </p:txBody>
      </p:sp>
      <p:sp>
        <p:nvSpPr>
          <p:cNvPr id="11" name="Shape 9"/>
          <p:cNvSpPr/>
          <p:nvPr/>
        </p:nvSpPr>
        <p:spPr>
          <a:xfrm>
            <a:off x="3154680" y="2212848"/>
            <a:ext cx="109728" cy="109728"/>
          </a:xfrm>
          <a:prstGeom prst="ellipse">
            <a:avLst/>
          </a:prstGeom>
          <a:solidFill>
            <a:srgbClr val="F96167"/>
          </a:solidFill>
          <a:ln/>
        </p:spPr>
      </p:sp>
      <p:sp>
        <p:nvSpPr>
          <p:cNvPr id="12" name="Text 10"/>
          <p:cNvSpPr txBox="1"/>
          <p:nvPr/>
        </p:nvSpPr>
        <p:spPr>
          <a:xfrm>
            <a:off x="3383280" y="2112264"/>
            <a:ext cx="2286000" cy="320040"/>
          </a:xfrm>
          <a:prstGeom prst="rect">
            <a:avLst/>
          </a:prstGeom>
          <a:noFill/>
          <a:ln/>
        </p:spPr>
        <p:txBody>
          <a:bodyPr wrap="square" lIns="0" tIns="0" rIns="0" bIns="0" rtlCol="0" anchor="ctr"/>
          <a:lstStyle/>
          <a:p>
            <a:pPr indent="0" marL="0">
              <a:buNone/>
            </a:pPr>
            <a:r>
              <a:rPr lang="en-US" sz="1250" dirty="0">
                <a:solidFill>
                  <a:srgbClr val="22252B"/>
                </a:solidFill>
                <a:latin typeface="Calibri" pitchFamily="34" charset="0"/>
                <a:ea typeface="Calibri" pitchFamily="34" charset="-122"/>
                <a:cs typeface="Calibri" pitchFamily="34" charset="-120"/>
              </a:rPr>
              <a:t>dias disponíveis por semana</a:t>
            </a:r>
            <a:endParaRPr lang="en-US" sz="1250" dirty="0"/>
          </a:p>
        </p:txBody>
      </p:sp>
      <p:sp>
        <p:nvSpPr>
          <p:cNvPr id="13" name="Shape 11"/>
          <p:cNvSpPr/>
          <p:nvPr/>
        </p:nvSpPr>
        <p:spPr>
          <a:xfrm>
            <a:off x="548640" y="2596896"/>
            <a:ext cx="109728" cy="109728"/>
          </a:xfrm>
          <a:prstGeom prst="ellipse">
            <a:avLst/>
          </a:prstGeom>
          <a:solidFill>
            <a:srgbClr val="F96167"/>
          </a:solidFill>
          <a:ln/>
        </p:spPr>
      </p:sp>
      <p:sp>
        <p:nvSpPr>
          <p:cNvPr id="14" name="Text 12"/>
          <p:cNvSpPr txBox="1"/>
          <p:nvPr/>
        </p:nvSpPr>
        <p:spPr>
          <a:xfrm>
            <a:off x="777240" y="2496312"/>
            <a:ext cx="2286000" cy="320040"/>
          </a:xfrm>
          <a:prstGeom prst="rect">
            <a:avLst/>
          </a:prstGeom>
          <a:noFill/>
          <a:ln/>
        </p:spPr>
        <p:txBody>
          <a:bodyPr wrap="square" lIns="0" tIns="0" rIns="0" bIns="0" rtlCol="0" anchor="ctr"/>
          <a:lstStyle/>
          <a:p>
            <a:pPr indent="0" marL="0">
              <a:buNone/>
            </a:pPr>
            <a:r>
              <a:rPr lang="en-US" sz="1250" dirty="0">
                <a:solidFill>
                  <a:srgbClr val="22252B"/>
                </a:solidFill>
                <a:latin typeface="Calibri" pitchFamily="34" charset="0"/>
                <a:ea typeface="Calibri" pitchFamily="34" charset="-122"/>
                <a:cs typeface="Calibri" pitchFamily="34" charset="-120"/>
              </a:rPr>
              <a:t>restrição física</a:t>
            </a:r>
            <a:endParaRPr lang="en-US" sz="1250" dirty="0"/>
          </a:p>
        </p:txBody>
      </p:sp>
      <p:sp>
        <p:nvSpPr>
          <p:cNvPr id="15" name="Shape 13"/>
          <p:cNvSpPr/>
          <p:nvPr/>
        </p:nvSpPr>
        <p:spPr>
          <a:xfrm>
            <a:off x="3154680" y="2596896"/>
            <a:ext cx="109728" cy="109728"/>
          </a:xfrm>
          <a:prstGeom prst="ellipse">
            <a:avLst/>
          </a:prstGeom>
          <a:solidFill>
            <a:srgbClr val="F96167"/>
          </a:solidFill>
          <a:ln/>
        </p:spPr>
      </p:sp>
      <p:sp>
        <p:nvSpPr>
          <p:cNvPr id="16" name="Text 14"/>
          <p:cNvSpPr txBox="1"/>
          <p:nvPr/>
        </p:nvSpPr>
        <p:spPr>
          <a:xfrm>
            <a:off x="3383280" y="2496312"/>
            <a:ext cx="2286000" cy="320040"/>
          </a:xfrm>
          <a:prstGeom prst="rect">
            <a:avLst/>
          </a:prstGeom>
          <a:noFill/>
          <a:ln/>
        </p:spPr>
        <p:txBody>
          <a:bodyPr wrap="square" lIns="0" tIns="0" rIns="0" bIns="0" rtlCol="0" anchor="ctr"/>
          <a:lstStyle/>
          <a:p>
            <a:pPr indent="0" marL="0">
              <a:buNone/>
            </a:pPr>
            <a:r>
              <a:rPr lang="en-US" sz="1250" dirty="0">
                <a:solidFill>
                  <a:srgbClr val="22252B"/>
                </a:solidFill>
                <a:latin typeface="Calibri" pitchFamily="34" charset="0"/>
                <a:ea typeface="Calibri" pitchFamily="34" charset="-122"/>
                <a:cs typeface="Calibri" pitchFamily="34" charset="-120"/>
              </a:rPr>
              <a:t>equipamento disponível</a:t>
            </a:r>
            <a:endParaRPr lang="en-US" sz="1250" dirty="0"/>
          </a:p>
        </p:txBody>
      </p:sp>
      <p:sp>
        <p:nvSpPr>
          <p:cNvPr id="17" name="Shape 15"/>
          <p:cNvSpPr/>
          <p:nvPr/>
        </p:nvSpPr>
        <p:spPr>
          <a:xfrm>
            <a:off x="548640" y="3246120"/>
            <a:ext cx="5120640" cy="777240"/>
          </a:xfrm>
          <a:prstGeom prst="roundRect">
            <a:avLst>
              <a:gd name="adj" fmla="val 9412"/>
            </a:avLst>
          </a:prstGeom>
          <a:solidFill>
            <a:srgbClr val="2F3C7E"/>
          </a:solidFill>
          <a:ln/>
        </p:spPr>
      </p:sp>
      <p:sp>
        <p:nvSpPr>
          <p:cNvPr id="18" name="Text 16"/>
          <p:cNvSpPr txBox="1"/>
          <p:nvPr/>
        </p:nvSpPr>
        <p:spPr>
          <a:xfrm>
            <a:off x="777240" y="3246120"/>
            <a:ext cx="4663440" cy="777240"/>
          </a:xfrm>
          <a:prstGeom prst="rect">
            <a:avLst/>
          </a:prstGeom>
          <a:noFill/>
          <a:ln/>
        </p:spPr>
        <p:txBody>
          <a:bodyPr wrap="square" lIns="0" tIns="0" rIns="0" bIns="0" rtlCol="0" anchor="ctr"/>
          <a:lstStyle/>
          <a:p>
            <a:pPr indent="0" marL="0">
              <a:buNone/>
            </a:pPr>
            <a:r>
              <a:rPr lang="en-US" sz="1400" b="1" dirty="0">
                <a:solidFill>
                  <a:srgbClr val="F9E795"/>
                </a:solidFill>
                <a:latin typeface="Calibri" pitchFamily="34" charset="0"/>
                <a:ea typeface="Calibri" pitchFamily="34" charset="-122"/>
                <a:cs typeface="Calibri" pitchFamily="34" charset="-120"/>
              </a:rPr>
              <a:t>Saída (label):  </a:t>
            </a:r>
            <a:pPr indent="0" marL="0">
              <a:buNone/>
            </a:pPr>
            <a:r>
              <a:rPr lang="en-US" sz="1400" b="1" dirty="0">
                <a:solidFill>
                  <a:srgbClr val="FFFFFF"/>
                </a:solidFill>
                <a:latin typeface="Calibri" pitchFamily="34" charset="0"/>
                <a:ea typeface="Calibri" pitchFamily="34" charset="-122"/>
                <a:cs typeface="Calibri" pitchFamily="34" charset="-120"/>
              </a:rPr>
              <a:t>treino_recomendado</a:t>
            </a:r>
            <a:pPr indent="0" marL="0">
              <a:buNone/>
            </a:pPr>
            <a:r>
              <a:rPr lang="en-US" sz="1400" dirty="0">
                <a:solidFill>
                  <a:srgbClr val="FFFFFF"/>
                </a:solidFill>
                <a:latin typeface="Calibri" pitchFamily="34" charset="0"/>
                <a:ea typeface="Calibri" pitchFamily="34" charset="-122"/>
                <a:cs typeface="Calibri" pitchFamily="34" charset="-120"/>
              </a:rPr>
              <a:t>  (Treino A, B, C ou D)</a:t>
            </a:r>
            <a:endParaRPr lang="en-US" sz="1400" dirty="0"/>
          </a:p>
        </p:txBody>
      </p:sp>
      <p:sp>
        <p:nvSpPr>
          <p:cNvPr id="19" name="Text 17"/>
          <p:cNvSpPr txBox="1"/>
          <p:nvPr/>
        </p:nvSpPr>
        <p:spPr>
          <a:xfrm>
            <a:off x="548640" y="4297680"/>
            <a:ext cx="5120640" cy="292608"/>
          </a:xfrm>
          <a:prstGeom prst="rect">
            <a:avLst/>
          </a:prstGeom>
          <a:noFill/>
          <a:ln/>
        </p:spPr>
        <p:txBody>
          <a:bodyPr wrap="square" lIns="0" tIns="0" rIns="0" bIns="0" rtlCol="0" anchor="ctr"/>
          <a:lstStyle/>
          <a:p>
            <a:pPr indent="0" marL="0">
              <a:buNone/>
            </a:pPr>
            <a:r>
              <a:rPr lang="en-US" sz="1400" b="1" dirty="0">
                <a:solidFill>
                  <a:srgbClr val="2F3C7E"/>
                </a:solidFill>
                <a:latin typeface="Calibri" pitchFamily="34" charset="0"/>
                <a:ea typeface="Calibri" pitchFamily="34" charset="-122"/>
                <a:cs typeface="Calibri" pitchFamily="34" charset="-120"/>
              </a:rPr>
              <a:t>Soluções semelhantes</a:t>
            </a:r>
            <a:endParaRPr lang="en-US" sz="1400" dirty="0"/>
          </a:p>
        </p:txBody>
      </p:sp>
      <p:sp>
        <p:nvSpPr>
          <p:cNvPr id="20" name="Text 18"/>
          <p:cNvSpPr txBox="1"/>
          <p:nvPr/>
        </p:nvSpPr>
        <p:spPr>
          <a:xfrm>
            <a:off x="548640" y="4617720"/>
            <a:ext cx="5120640" cy="1554480"/>
          </a:xfrm>
          <a:prstGeom prst="rect">
            <a:avLst/>
          </a:prstGeom>
          <a:noFill/>
          <a:ln/>
        </p:spPr>
        <p:txBody>
          <a:bodyPr wrap="square" lIns="0" tIns="0" rIns="0" bIns="0" rtlCol="0" anchor="ctr"/>
          <a:lstStyle/>
          <a:p>
            <a:pPr indent="0" marL="0">
              <a:lnSpc>
                <a:spcPct val="125000"/>
              </a:lnSpc>
              <a:buNone/>
            </a:pPr>
            <a:r>
              <a:rPr lang="en-US" sz="1250" b="1" dirty="0">
                <a:solidFill>
                  <a:srgbClr val="22252B"/>
                </a:solidFill>
                <a:latin typeface="Calibri" pitchFamily="34" charset="0"/>
                <a:ea typeface="Calibri" pitchFamily="34" charset="-122"/>
                <a:cs typeface="Calibri" pitchFamily="34" charset="-120"/>
              </a:rPr>
              <a:t>Fitbod </a:t>
            </a:r>
            <a:pPr indent="0" marL="0">
              <a:lnSpc>
                <a:spcPct val="125000"/>
              </a:lnSpc>
              <a:buNone/>
            </a:pPr>
            <a:r>
              <a:rPr lang="en-US" sz="1250" dirty="0">
                <a:solidFill>
                  <a:srgbClr val="22252B"/>
                </a:solidFill>
                <a:latin typeface="Calibri" pitchFamily="34" charset="0"/>
                <a:ea typeface="Calibri" pitchFamily="34" charset="-122"/>
                <a:cs typeface="Calibri" pitchFamily="34" charset="-120"/>
              </a:rPr>
              <a:t>e </a:t>
            </a:r>
            <a:pPr indent="0" marL="0">
              <a:lnSpc>
                <a:spcPct val="125000"/>
              </a:lnSpc>
              <a:buNone/>
            </a:pPr>
            <a:r>
              <a:rPr lang="en-US" sz="1250" b="1" dirty="0">
                <a:solidFill>
                  <a:srgbClr val="22252B"/>
                </a:solidFill>
                <a:latin typeface="Calibri" pitchFamily="34" charset="0"/>
                <a:ea typeface="Calibri" pitchFamily="34" charset="-122"/>
                <a:cs typeface="Calibri" pitchFamily="34" charset="-120"/>
              </a:rPr>
              <a:t>BodBot </a:t>
            </a:r>
            <a:pPr indent="0" marL="0">
              <a:lnSpc>
                <a:spcPct val="125000"/>
              </a:lnSpc>
              <a:buNone/>
            </a:pPr>
            <a:r>
              <a:rPr lang="en-US" sz="1250" dirty="0">
                <a:solidFill>
                  <a:srgbClr val="22252B"/>
                </a:solidFill>
                <a:latin typeface="Calibri" pitchFamily="34" charset="0"/>
                <a:ea typeface="Calibri" pitchFamily="34" charset="-122"/>
                <a:cs typeface="Calibri" pitchFamily="34" charset="-120"/>
              </a:rPr>
              <a:t>usam objetivo, nível e equipamento para gerar treinos — mas replanejam a cada sessão. Este projeto classifica um perfil estático em uma categoria de treino (A–D), sem histórico de sessões.</a:t>
            </a:r>
            <a:endParaRPr lang="en-US" sz="1250" dirty="0"/>
          </a:p>
        </p:txBody>
      </p:sp>
      <p:sp>
        <p:nvSpPr>
          <p:cNvPr id="21" name="Shape 19"/>
          <p:cNvSpPr/>
          <p:nvPr/>
        </p:nvSpPr>
        <p:spPr>
          <a:xfrm>
            <a:off x="6126480" y="1417320"/>
            <a:ext cx="5394960" cy="4846320"/>
          </a:xfrm>
          <a:prstGeom prst="roundRect">
            <a:avLst>
              <a:gd name="adj" fmla="val 2264"/>
            </a:avLst>
          </a:prstGeom>
          <a:solidFill>
            <a:srgbClr val="F4F5FA"/>
          </a:solidFill>
          <a:ln/>
        </p:spPr>
      </p:sp>
      <p:sp>
        <p:nvSpPr>
          <p:cNvPr id="22" name="Text 20"/>
          <p:cNvSpPr txBox="1"/>
          <p:nvPr/>
        </p:nvSpPr>
        <p:spPr>
          <a:xfrm>
            <a:off x="6446520" y="1645920"/>
            <a:ext cx="4754880" cy="320040"/>
          </a:xfrm>
          <a:prstGeom prst="rect">
            <a:avLst/>
          </a:prstGeom>
          <a:noFill/>
          <a:ln/>
        </p:spPr>
        <p:txBody>
          <a:bodyPr wrap="square" lIns="0" tIns="0" rIns="0" bIns="0" rtlCol="0" anchor="ctr"/>
          <a:lstStyle/>
          <a:p>
            <a:pPr indent="0" marL="0">
              <a:buNone/>
            </a:pPr>
            <a:r>
              <a:rPr lang="en-US" sz="1400" b="1" dirty="0">
                <a:solidFill>
                  <a:srgbClr val="2F3C7E"/>
                </a:solidFill>
                <a:latin typeface="Calibri" pitchFamily="34" charset="0"/>
                <a:ea typeface="Calibri" pitchFamily="34" charset="-122"/>
                <a:cs typeface="Calibri" pitchFamily="34" charset="-120"/>
              </a:rPr>
              <a:t>Fluxo de decisão</a:t>
            </a:r>
            <a:endParaRPr lang="en-US" sz="1400" dirty="0"/>
          </a:p>
        </p:txBody>
      </p:sp>
      <p:sp>
        <p:nvSpPr>
          <p:cNvPr id="23" name="Shape 21"/>
          <p:cNvSpPr/>
          <p:nvPr/>
        </p:nvSpPr>
        <p:spPr>
          <a:xfrm>
            <a:off x="6446520" y="2148840"/>
            <a:ext cx="4754880" cy="1051560"/>
          </a:xfrm>
          <a:prstGeom prst="roundRect">
            <a:avLst>
              <a:gd name="adj" fmla="val 6957"/>
            </a:avLst>
          </a:prstGeom>
          <a:solidFill>
            <a:srgbClr val="FFFFFF"/>
          </a:solidFill>
          <a:ln w="12700">
            <a:solidFill>
              <a:srgbClr val="DDE1EC"/>
            </a:solidFill>
            <a:prstDash val="solid"/>
          </a:ln>
        </p:spPr>
      </p:sp>
      <p:sp>
        <p:nvSpPr>
          <p:cNvPr id="24" name="Shape 22"/>
          <p:cNvSpPr/>
          <p:nvPr/>
        </p:nvSpPr>
        <p:spPr>
          <a:xfrm>
            <a:off x="6629400" y="2331720"/>
            <a:ext cx="365760" cy="365760"/>
          </a:xfrm>
          <a:prstGeom prst="ellipse">
            <a:avLst/>
          </a:prstGeom>
          <a:solidFill>
            <a:srgbClr val="2F3C7E"/>
          </a:solidFill>
          <a:ln/>
        </p:spPr>
      </p:sp>
      <p:sp>
        <p:nvSpPr>
          <p:cNvPr id="25" name="Text 23"/>
          <p:cNvSpPr txBox="1"/>
          <p:nvPr/>
        </p:nvSpPr>
        <p:spPr>
          <a:xfrm>
            <a:off x="6629400" y="23317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6" name="Text 24"/>
          <p:cNvSpPr txBox="1"/>
          <p:nvPr/>
        </p:nvSpPr>
        <p:spPr>
          <a:xfrm>
            <a:off x="7132320" y="2267712"/>
            <a:ext cx="3931920" cy="320040"/>
          </a:xfrm>
          <a:prstGeom prst="rect">
            <a:avLst/>
          </a:prstGeom>
          <a:noFill/>
          <a:ln/>
        </p:spPr>
        <p:txBody>
          <a:bodyPr wrap="square" lIns="0" tIns="0" rIns="0" bIns="0" rtlCol="0" anchor="ctr"/>
          <a:lstStyle/>
          <a:p>
            <a:pPr indent="0" marL="0">
              <a:buNone/>
            </a:pPr>
            <a:r>
              <a:rPr lang="en-US" sz="1300" b="1" dirty="0">
                <a:solidFill>
                  <a:srgbClr val="22252B"/>
                </a:solidFill>
                <a:latin typeface="Calibri" pitchFamily="34" charset="0"/>
                <a:ea typeface="Calibri" pitchFamily="34" charset="-122"/>
                <a:cs typeface="Calibri" pitchFamily="34" charset="-120"/>
              </a:rPr>
              <a:t>Perfil do aluno</a:t>
            </a:r>
            <a:endParaRPr lang="en-US" sz="1300" dirty="0"/>
          </a:p>
        </p:txBody>
      </p:sp>
      <p:sp>
        <p:nvSpPr>
          <p:cNvPr id="27" name="Text 25"/>
          <p:cNvSpPr txBox="1"/>
          <p:nvPr/>
        </p:nvSpPr>
        <p:spPr>
          <a:xfrm>
            <a:off x="7132320" y="2606040"/>
            <a:ext cx="3931920" cy="502920"/>
          </a:xfrm>
          <a:prstGeom prst="rect">
            <a:avLst/>
          </a:prstGeom>
          <a:noFill/>
          <a:ln/>
        </p:spPr>
        <p:txBody>
          <a:bodyPr wrap="square" lIns="0" tIns="0" rIns="0" bIns="0" rtlCol="0" anchor="ctr"/>
          <a:lstStyle/>
          <a:p>
            <a:pPr indent="0" marL="0">
              <a:lnSpc>
                <a:spcPct val="110000"/>
              </a:lnSpc>
              <a:buNone/>
            </a:pPr>
            <a:r>
              <a:rPr lang="en-US" sz="1100" dirty="0">
                <a:solidFill>
                  <a:srgbClr val="6B7280"/>
                </a:solidFill>
                <a:latin typeface="Calibri" pitchFamily="34" charset="0"/>
                <a:ea typeface="Calibri" pitchFamily="34" charset="-122"/>
                <a:cs typeface="Calibri" pitchFamily="34" charset="-120"/>
              </a:rPr>
              <a:t>idade, objetivo, experiência, dias, restrição, equipamento</a:t>
            </a:r>
            <a:endParaRPr lang="en-US" sz="1100" dirty="0"/>
          </a:p>
        </p:txBody>
      </p:sp>
      <p:sp>
        <p:nvSpPr>
          <p:cNvPr id="28" name="Shape 26"/>
          <p:cNvSpPr/>
          <p:nvPr/>
        </p:nvSpPr>
        <p:spPr>
          <a:xfrm>
            <a:off x="8732520" y="3200400"/>
            <a:ext cx="36576" cy="320040"/>
          </a:xfrm>
          <a:prstGeom prst="rect">
            <a:avLst/>
          </a:prstGeom>
          <a:solidFill>
            <a:srgbClr val="F96167"/>
          </a:solidFill>
          <a:ln/>
        </p:spPr>
      </p:sp>
      <p:sp>
        <p:nvSpPr>
          <p:cNvPr id="29" name="Shape 27"/>
          <p:cNvSpPr/>
          <p:nvPr/>
        </p:nvSpPr>
        <p:spPr>
          <a:xfrm>
            <a:off x="6446520" y="3520440"/>
            <a:ext cx="4754880" cy="1051560"/>
          </a:xfrm>
          <a:prstGeom prst="roundRect">
            <a:avLst>
              <a:gd name="adj" fmla="val 6957"/>
            </a:avLst>
          </a:prstGeom>
          <a:solidFill>
            <a:srgbClr val="FFFFFF"/>
          </a:solidFill>
          <a:ln w="12700">
            <a:solidFill>
              <a:srgbClr val="DDE1EC"/>
            </a:solidFill>
            <a:prstDash val="solid"/>
          </a:ln>
        </p:spPr>
      </p:sp>
      <p:sp>
        <p:nvSpPr>
          <p:cNvPr id="30" name="Shape 28"/>
          <p:cNvSpPr/>
          <p:nvPr/>
        </p:nvSpPr>
        <p:spPr>
          <a:xfrm>
            <a:off x="6629400" y="3703320"/>
            <a:ext cx="365760" cy="365760"/>
          </a:xfrm>
          <a:prstGeom prst="ellipse">
            <a:avLst/>
          </a:prstGeom>
          <a:solidFill>
            <a:srgbClr val="F96167"/>
          </a:solidFill>
          <a:ln/>
        </p:spPr>
      </p:sp>
      <p:sp>
        <p:nvSpPr>
          <p:cNvPr id="31" name="Text 29"/>
          <p:cNvSpPr txBox="1"/>
          <p:nvPr/>
        </p:nvSpPr>
        <p:spPr>
          <a:xfrm>
            <a:off x="6629400" y="37033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32" name="Text 30"/>
          <p:cNvSpPr txBox="1"/>
          <p:nvPr/>
        </p:nvSpPr>
        <p:spPr>
          <a:xfrm>
            <a:off x="7132320" y="3639312"/>
            <a:ext cx="3931920" cy="320040"/>
          </a:xfrm>
          <a:prstGeom prst="rect">
            <a:avLst/>
          </a:prstGeom>
          <a:noFill/>
          <a:ln/>
        </p:spPr>
        <p:txBody>
          <a:bodyPr wrap="square" lIns="0" tIns="0" rIns="0" bIns="0" rtlCol="0" anchor="ctr"/>
          <a:lstStyle/>
          <a:p>
            <a:pPr indent="0" marL="0">
              <a:buNone/>
            </a:pPr>
            <a:r>
              <a:rPr lang="en-US" sz="1300" b="1" dirty="0">
                <a:solidFill>
                  <a:srgbClr val="22252B"/>
                </a:solidFill>
                <a:latin typeface="Calibri" pitchFamily="34" charset="0"/>
                <a:ea typeface="Calibri" pitchFamily="34" charset="-122"/>
                <a:cs typeface="Calibri" pitchFamily="34" charset="-120"/>
              </a:rPr>
              <a:t>Classificação (árvore de decisão)</a:t>
            </a:r>
            <a:endParaRPr lang="en-US" sz="1300" dirty="0"/>
          </a:p>
        </p:txBody>
      </p:sp>
      <p:sp>
        <p:nvSpPr>
          <p:cNvPr id="33" name="Text 31"/>
          <p:cNvSpPr txBox="1"/>
          <p:nvPr/>
        </p:nvSpPr>
        <p:spPr>
          <a:xfrm>
            <a:off x="7132320" y="3977640"/>
            <a:ext cx="3931920" cy="502920"/>
          </a:xfrm>
          <a:prstGeom prst="rect">
            <a:avLst/>
          </a:prstGeom>
          <a:noFill/>
          <a:ln/>
        </p:spPr>
        <p:txBody>
          <a:bodyPr wrap="square" lIns="0" tIns="0" rIns="0" bIns="0" rtlCol="0" anchor="ctr"/>
          <a:lstStyle/>
          <a:p>
            <a:pPr indent="0" marL="0">
              <a:lnSpc>
                <a:spcPct val="110000"/>
              </a:lnSpc>
              <a:buNone/>
            </a:pPr>
            <a:r>
              <a:rPr lang="en-US" sz="1100" dirty="0">
                <a:solidFill>
                  <a:srgbClr val="6B7280"/>
                </a:solidFill>
                <a:latin typeface="Calibri" pitchFamily="34" charset="0"/>
                <a:ea typeface="Calibri" pitchFamily="34" charset="-122"/>
                <a:cs typeface="Calibri" pitchFamily="34" charset="-120"/>
              </a:rPr>
              <a:t>modelo treinado sobre 300 perfis simulados</a:t>
            </a:r>
            <a:endParaRPr lang="en-US" sz="1100" dirty="0"/>
          </a:p>
        </p:txBody>
      </p:sp>
      <p:sp>
        <p:nvSpPr>
          <p:cNvPr id="34" name="Shape 32"/>
          <p:cNvSpPr/>
          <p:nvPr/>
        </p:nvSpPr>
        <p:spPr>
          <a:xfrm>
            <a:off x="8732520" y="4572000"/>
            <a:ext cx="36576" cy="320040"/>
          </a:xfrm>
          <a:prstGeom prst="rect">
            <a:avLst/>
          </a:prstGeom>
          <a:solidFill>
            <a:srgbClr val="F96167"/>
          </a:solidFill>
          <a:ln/>
        </p:spPr>
      </p:sp>
      <p:sp>
        <p:nvSpPr>
          <p:cNvPr id="35" name="Shape 33"/>
          <p:cNvSpPr/>
          <p:nvPr/>
        </p:nvSpPr>
        <p:spPr>
          <a:xfrm>
            <a:off x="6446520" y="4892040"/>
            <a:ext cx="4754880" cy="1051560"/>
          </a:xfrm>
          <a:prstGeom prst="roundRect">
            <a:avLst>
              <a:gd name="adj" fmla="val 6957"/>
            </a:avLst>
          </a:prstGeom>
          <a:solidFill>
            <a:srgbClr val="FFFFFF"/>
          </a:solidFill>
          <a:ln w="12700">
            <a:solidFill>
              <a:srgbClr val="DDE1EC"/>
            </a:solidFill>
            <a:prstDash val="solid"/>
          </a:ln>
        </p:spPr>
      </p:sp>
      <p:sp>
        <p:nvSpPr>
          <p:cNvPr id="36" name="Shape 34"/>
          <p:cNvSpPr/>
          <p:nvPr/>
        </p:nvSpPr>
        <p:spPr>
          <a:xfrm>
            <a:off x="6629400" y="5074920"/>
            <a:ext cx="365760" cy="365760"/>
          </a:xfrm>
          <a:prstGeom prst="ellipse">
            <a:avLst/>
          </a:prstGeom>
          <a:solidFill>
            <a:srgbClr val="2F3C7E"/>
          </a:solidFill>
          <a:ln/>
        </p:spPr>
      </p:sp>
      <p:sp>
        <p:nvSpPr>
          <p:cNvPr id="37" name="Text 35"/>
          <p:cNvSpPr txBox="1"/>
          <p:nvPr/>
        </p:nvSpPr>
        <p:spPr>
          <a:xfrm>
            <a:off x="6629400" y="50749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8" name="Text 36"/>
          <p:cNvSpPr txBox="1"/>
          <p:nvPr/>
        </p:nvSpPr>
        <p:spPr>
          <a:xfrm>
            <a:off x="7132320" y="5010912"/>
            <a:ext cx="3931920" cy="320040"/>
          </a:xfrm>
          <a:prstGeom prst="rect">
            <a:avLst/>
          </a:prstGeom>
          <a:noFill/>
          <a:ln/>
        </p:spPr>
        <p:txBody>
          <a:bodyPr wrap="square" lIns="0" tIns="0" rIns="0" bIns="0" rtlCol="0" anchor="ctr"/>
          <a:lstStyle/>
          <a:p>
            <a:pPr indent="0" marL="0">
              <a:buNone/>
            </a:pPr>
            <a:r>
              <a:rPr lang="en-US" sz="1300" b="1" dirty="0">
                <a:solidFill>
                  <a:srgbClr val="22252B"/>
                </a:solidFill>
                <a:latin typeface="Calibri" pitchFamily="34" charset="0"/>
                <a:ea typeface="Calibri" pitchFamily="34" charset="-122"/>
                <a:cs typeface="Calibri" pitchFamily="34" charset="-120"/>
              </a:rPr>
              <a:t>Treino recomendado</a:t>
            </a:r>
            <a:endParaRPr lang="en-US" sz="1300" dirty="0"/>
          </a:p>
        </p:txBody>
      </p:sp>
      <p:sp>
        <p:nvSpPr>
          <p:cNvPr id="39" name="Text 37"/>
          <p:cNvSpPr txBox="1"/>
          <p:nvPr/>
        </p:nvSpPr>
        <p:spPr>
          <a:xfrm>
            <a:off x="7132320" y="5349240"/>
            <a:ext cx="3931920" cy="502920"/>
          </a:xfrm>
          <a:prstGeom prst="rect">
            <a:avLst/>
          </a:prstGeom>
          <a:noFill/>
          <a:ln/>
        </p:spPr>
        <p:txBody>
          <a:bodyPr wrap="square" lIns="0" tIns="0" rIns="0" bIns="0" rtlCol="0" anchor="ctr"/>
          <a:lstStyle/>
          <a:p>
            <a:pPr indent="0" marL="0">
              <a:lnSpc>
                <a:spcPct val="110000"/>
              </a:lnSpc>
              <a:buNone/>
            </a:pPr>
            <a:r>
              <a:rPr lang="en-US" sz="1100" dirty="0">
                <a:solidFill>
                  <a:srgbClr val="6B7280"/>
                </a:solidFill>
                <a:latin typeface="Calibri" pitchFamily="34" charset="0"/>
                <a:ea typeface="Calibri" pitchFamily="34" charset="-122"/>
                <a:cs typeface="Calibri" pitchFamily="34" charset="-120"/>
              </a:rPr>
              <a:t>categoria A, B, C ou D</a:t>
            </a:r>
            <a:endParaRPr lang="en-US" sz="1100" dirty="0"/>
          </a:p>
        </p:txBody>
      </p:sp>
      <p:sp>
        <p:nvSpPr>
          <p:cNvPr id="41" name="Text 38"/>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Recomendação de Treinos Personalizados — AP1</a:t>
            </a:r>
            <a:endParaRPr lang="en-US" sz="900" dirty="0"/>
          </a:p>
        </p:txBody>
      </p:sp>
      <p:sp>
        <p:nvSpPr>
          <p:cNvPr id="42" name="Text 39"/>
          <p:cNvSpPr txBox="1"/>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9144000" cy="274320"/>
          </a:xfrm>
          <a:prstGeom prst="rect">
            <a:avLst/>
          </a:prstGeom>
          <a:noFill/>
          <a:ln/>
        </p:spPr>
        <p:txBody>
          <a:bodyPr wrap="square" lIns="0" tIns="0" rIns="0" bIns="0" rtlCol="0" anchor="ctr"/>
          <a:lstStyle/>
          <a:p>
            <a:pPr indent="0" marL="0">
              <a:buNone/>
            </a:pPr>
            <a:r>
              <a:rPr lang="en-US" sz="1200" b="1" spc="200" kern="0" dirty="0">
                <a:solidFill>
                  <a:srgbClr val="F96167"/>
                </a:solidFill>
                <a:latin typeface="Calibri" pitchFamily="34" charset="0"/>
                <a:ea typeface="Calibri" pitchFamily="34" charset="-122"/>
                <a:cs typeface="Calibri" pitchFamily="34" charset="-120"/>
              </a:rPr>
              <a:t>3. ABORDAGEM ESCOLHIDA</a:t>
            </a:r>
            <a:endParaRPr lang="en-US" sz="1200" dirty="0"/>
          </a:p>
        </p:txBody>
      </p:sp>
      <p:sp>
        <p:nvSpPr>
          <p:cNvPr id="3" name="Text 1"/>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200" b="1" dirty="0">
                <a:solidFill>
                  <a:srgbClr val="2F3C7E"/>
                </a:solidFill>
                <a:latin typeface="Cambria" pitchFamily="34" charset="0"/>
                <a:ea typeface="Cambria" pitchFamily="34" charset="-122"/>
                <a:cs typeface="Cambria" pitchFamily="34" charset="-120"/>
              </a:rPr>
              <a:t>Árvore de Decisão (Decision Tree)</a:t>
            </a:r>
            <a:endParaRPr lang="en-US" sz="3200" dirty="0"/>
          </a:p>
        </p:txBody>
      </p:sp>
      <p:sp>
        <p:nvSpPr>
          <p:cNvPr id="4" name="Text 2"/>
          <p:cNvSpPr txBox="1"/>
          <p:nvPr/>
        </p:nvSpPr>
        <p:spPr>
          <a:xfrm>
            <a:off x="548640" y="1463040"/>
            <a:ext cx="6309360" cy="1463040"/>
          </a:xfrm>
          <a:prstGeom prst="rect">
            <a:avLst/>
          </a:prstGeom>
          <a:noFill/>
          <a:ln/>
        </p:spPr>
        <p:txBody>
          <a:bodyPr wrap="square" lIns="0" tIns="0" rIns="0" bIns="0" rtlCol="0" anchor="ctr"/>
          <a:lstStyle/>
          <a:p>
            <a:pPr indent="0" marL="0">
              <a:lnSpc>
                <a:spcPct val="125000"/>
              </a:lnSpc>
              <a:buNone/>
            </a:pPr>
            <a:r>
              <a:rPr lang="en-US" sz="1500" dirty="0">
                <a:solidFill>
                  <a:srgbClr val="22252B"/>
                </a:solidFill>
                <a:latin typeface="Calibri" pitchFamily="34" charset="0"/>
                <a:ea typeface="Calibri" pitchFamily="34" charset="-122"/>
                <a:cs typeface="Calibri" pitchFamily="34" charset="-120"/>
              </a:rPr>
              <a:t>Escolhida por ser interpretável — as regras de decisão podem ser visualizadas — e por se adequar a um problema com atributos majoritariamente categóricos, como objetivo, experiência e equipamento disponível.</a:t>
            </a:r>
            <a:endParaRPr lang="en-US" sz="1500" dirty="0"/>
          </a:p>
        </p:txBody>
      </p:sp>
      <p:sp>
        <p:nvSpPr>
          <p:cNvPr id="5" name="Shape 3"/>
          <p:cNvSpPr/>
          <p:nvPr/>
        </p:nvSpPr>
        <p:spPr>
          <a:xfrm>
            <a:off x="548640" y="3200400"/>
            <a:ext cx="6309360" cy="2651760"/>
          </a:xfrm>
          <a:prstGeom prst="roundRect">
            <a:avLst>
              <a:gd name="adj" fmla="val 3448"/>
            </a:avLst>
          </a:prstGeom>
          <a:solidFill>
            <a:srgbClr val="2F3C7E"/>
          </a:solidFill>
          <a:ln/>
        </p:spPr>
      </p:sp>
      <p:sp>
        <p:nvSpPr>
          <p:cNvPr id="6" name="Text 4"/>
          <p:cNvSpPr txBox="1"/>
          <p:nvPr/>
        </p:nvSpPr>
        <p:spPr>
          <a:xfrm>
            <a:off x="868680" y="3429000"/>
            <a:ext cx="5669280" cy="320040"/>
          </a:xfrm>
          <a:prstGeom prst="rect">
            <a:avLst/>
          </a:prstGeom>
          <a:noFill/>
          <a:ln/>
        </p:spPr>
        <p:txBody>
          <a:bodyPr wrap="square" lIns="0" tIns="0" rIns="0" bIns="0" rtlCol="0" anchor="ctr"/>
          <a:lstStyle/>
          <a:p>
            <a:pPr indent="0" marL="0">
              <a:buNone/>
            </a:pPr>
            <a:r>
              <a:rPr lang="en-US" sz="1400" b="1" dirty="0">
                <a:solidFill>
                  <a:srgbClr val="F9E795"/>
                </a:solidFill>
                <a:latin typeface="Calibri" pitchFamily="34" charset="0"/>
                <a:ea typeface="Calibri" pitchFamily="34" charset="-122"/>
                <a:cs typeface="Calibri" pitchFamily="34" charset="-120"/>
              </a:rPr>
              <a:t>Por que não só um sistema de regras fixas?</a:t>
            </a:r>
            <a:endParaRPr lang="en-US" sz="1400" dirty="0"/>
          </a:p>
        </p:txBody>
      </p:sp>
      <p:sp>
        <p:nvSpPr>
          <p:cNvPr id="7" name="Text 5"/>
          <p:cNvSpPr txBox="1"/>
          <p:nvPr/>
        </p:nvSpPr>
        <p:spPr>
          <a:xfrm>
            <a:off x="868680" y="3794760"/>
            <a:ext cx="5669280" cy="1920240"/>
          </a:xfrm>
          <a:prstGeom prst="rect">
            <a:avLst/>
          </a:prstGeom>
          <a:noFill/>
          <a:ln/>
        </p:spPr>
        <p:txBody>
          <a:bodyPr wrap="square" lIns="0" tIns="0" rIns="0" bIns="0" rtlCol="0" anchor="ctr"/>
          <a:lstStyle/>
          <a:p>
            <a:pPr indent="0" marL="0">
              <a:lnSpc>
                <a:spcPct val="130000"/>
              </a:lnSpc>
              <a:buNone/>
            </a:pPr>
            <a:r>
              <a:rPr lang="en-US" sz="1300" dirty="0">
                <a:solidFill>
                  <a:srgbClr val="FFFFFF"/>
                </a:solidFill>
                <a:latin typeface="Calibri" pitchFamily="34" charset="0"/>
                <a:ea typeface="Calibri" pitchFamily="34" charset="-122"/>
                <a:cs typeface="Calibri" pitchFamily="34" charset="-120"/>
              </a:rPr>
              <a:t>Regras fixas exigiriam prever manualmente todas as combinações de 6 atributos. Uma árvore de decisão aprende os limiares e combinações relevantes diretamente dos dados, e ainda assim mantém a decisão explicável — cada recomendação pode ser rastreada até as regras aprendidas.</a:t>
            </a:r>
            <a:endParaRPr lang="en-US" sz="1300" dirty="0"/>
          </a:p>
        </p:txBody>
      </p:sp>
      <p:sp>
        <p:nvSpPr>
          <p:cNvPr id="8" name="Text 6"/>
          <p:cNvSpPr txBox="1"/>
          <p:nvPr/>
        </p:nvSpPr>
        <p:spPr>
          <a:xfrm>
            <a:off x="7223760" y="1463040"/>
            <a:ext cx="4389120" cy="320040"/>
          </a:xfrm>
          <a:prstGeom prst="rect">
            <a:avLst/>
          </a:prstGeom>
          <a:noFill/>
          <a:ln/>
        </p:spPr>
        <p:txBody>
          <a:bodyPr wrap="square" lIns="0" tIns="0" rIns="0" bIns="0" rtlCol="0" anchor="ctr"/>
          <a:lstStyle/>
          <a:p>
            <a:pPr indent="0" marL="0">
              <a:buNone/>
            </a:pPr>
            <a:r>
              <a:rPr lang="en-US" sz="1400" b="1" dirty="0">
                <a:solidFill>
                  <a:srgbClr val="2F3C7E"/>
                </a:solidFill>
                <a:latin typeface="Calibri" pitchFamily="34" charset="0"/>
                <a:ea typeface="Calibri" pitchFamily="34" charset="-122"/>
                <a:cs typeface="Calibri" pitchFamily="34" charset="-120"/>
              </a:rPr>
              <a:t>Comparação com soluções existentes</a:t>
            </a:r>
            <a:endParaRPr lang="en-US" sz="1400" dirty="0"/>
          </a:p>
        </p:txBody>
      </p:sp>
      <p:sp>
        <p:nvSpPr>
          <p:cNvPr id="9" name="Shape 7"/>
          <p:cNvSpPr/>
          <p:nvPr/>
        </p:nvSpPr>
        <p:spPr>
          <a:xfrm>
            <a:off x="7223760" y="1874520"/>
            <a:ext cx="4389120" cy="1234440"/>
          </a:xfrm>
          <a:prstGeom prst="roundRect">
            <a:avLst>
              <a:gd name="adj" fmla="val 6667"/>
            </a:avLst>
          </a:prstGeom>
          <a:solidFill>
            <a:srgbClr val="F4F5FA"/>
          </a:solidFill>
          <a:ln/>
        </p:spPr>
      </p:sp>
      <p:sp>
        <p:nvSpPr>
          <p:cNvPr id="10" name="Text 8"/>
          <p:cNvSpPr txBox="1"/>
          <p:nvPr/>
        </p:nvSpPr>
        <p:spPr>
          <a:xfrm>
            <a:off x="7498080" y="2002536"/>
            <a:ext cx="3840480" cy="274320"/>
          </a:xfrm>
          <a:prstGeom prst="rect">
            <a:avLst/>
          </a:prstGeom>
          <a:noFill/>
          <a:ln/>
        </p:spPr>
        <p:txBody>
          <a:bodyPr wrap="square" lIns="0" tIns="0" rIns="0" bIns="0" rtlCol="0" anchor="ctr"/>
          <a:lstStyle/>
          <a:p>
            <a:pPr indent="0" marL="0">
              <a:buNone/>
            </a:pPr>
            <a:r>
              <a:rPr lang="en-US" sz="1300" b="1" dirty="0">
                <a:solidFill>
                  <a:srgbClr val="2F3C7E"/>
                </a:solidFill>
                <a:latin typeface="Calibri" pitchFamily="34" charset="0"/>
                <a:ea typeface="Calibri" pitchFamily="34" charset="-122"/>
                <a:cs typeface="Calibri" pitchFamily="34" charset="-120"/>
              </a:rPr>
              <a:t>Fitbod</a:t>
            </a:r>
            <a:endParaRPr lang="en-US" sz="1300" dirty="0"/>
          </a:p>
        </p:txBody>
      </p:sp>
      <p:sp>
        <p:nvSpPr>
          <p:cNvPr id="11" name="Text 9"/>
          <p:cNvSpPr txBox="1"/>
          <p:nvPr/>
        </p:nvSpPr>
        <p:spPr>
          <a:xfrm>
            <a:off x="7498080" y="2331720"/>
            <a:ext cx="3840480" cy="685800"/>
          </a:xfrm>
          <a:prstGeom prst="rect">
            <a:avLst/>
          </a:prstGeom>
          <a:noFill/>
          <a:ln/>
        </p:spPr>
        <p:txBody>
          <a:bodyPr wrap="square" lIns="0" tIns="0" rIns="0" bIns="0" rtlCol="0" anchor="ctr"/>
          <a:lstStyle/>
          <a:p>
            <a:pPr indent="0" marL="0">
              <a:lnSpc>
                <a:spcPct val="120000"/>
              </a:lnSpc>
              <a:buNone/>
            </a:pPr>
            <a:r>
              <a:rPr lang="en-US" sz="1150" dirty="0">
                <a:solidFill>
                  <a:srgbClr val="22252B"/>
                </a:solidFill>
                <a:latin typeface="Calibri" pitchFamily="34" charset="0"/>
                <a:ea typeface="Calibri" pitchFamily="34" charset="-122"/>
                <a:cs typeface="Calibri" pitchFamily="34" charset="-120"/>
              </a:rPr>
              <a:t>Ajuste contínuo por usuário, sessão a sessão.</a:t>
            </a:r>
            <a:endParaRPr lang="en-US" sz="1150" dirty="0"/>
          </a:p>
        </p:txBody>
      </p:sp>
      <p:sp>
        <p:nvSpPr>
          <p:cNvPr id="12" name="Shape 10"/>
          <p:cNvSpPr/>
          <p:nvPr/>
        </p:nvSpPr>
        <p:spPr>
          <a:xfrm>
            <a:off x="7223760" y="3291840"/>
            <a:ext cx="4389120" cy="1234440"/>
          </a:xfrm>
          <a:prstGeom prst="roundRect">
            <a:avLst>
              <a:gd name="adj" fmla="val 6667"/>
            </a:avLst>
          </a:prstGeom>
          <a:solidFill>
            <a:srgbClr val="F4F5FA"/>
          </a:solidFill>
          <a:ln/>
        </p:spPr>
      </p:sp>
      <p:sp>
        <p:nvSpPr>
          <p:cNvPr id="13" name="Text 11"/>
          <p:cNvSpPr txBox="1"/>
          <p:nvPr/>
        </p:nvSpPr>
        <p:spPr>
          <a:xfrm>
            <a:off x="7498080" y="3419856"/>
            <a:ext cx="3840480" cy="274320"/>
          </a:xfrm>
          <a:prstGeom prst="rect">
            <a:avLst/>
          </a:prstGeom>
          <a:noFill/>
          <a:ln/>
        </p:spPr>
        <p:txBody>
          <a:bodyPr wrap="square" lIns="0" tIns="0" rIns="0" bIns="0" rtlCol="0" anchor="ctr"/>
          <a:lstStyle/>
          <a:p>
            <a:pPr indent="0" marL="0">
              <a:buNone/>
            </a:pPr>
            <a:r>
              <a:rPr lang="en-US" sz="1300" b="1" dirty="0">
                <a:solidFill>
                  <a:srgbClr val="2F3C7E"/>
                </a:solidFill>
                <a:latin typeface="Calibri" pitchFamily="34" charset="0"/>
                <a:ea typeface="Calibri" pitchFamily="34" charset="-122"/>
                <a:cs typeface="Calibri" pitchFamily="34" charset="-120"/>
              </a:rPr>
              <a:t>BodBot</a:t>
            </a:r>
            <a:endParaRPr lang="en-US" sz="1300" dirty="0"/>
          </a:p>
        </p:txBody>
      </p:sp>
      <p:sp>
        <p:nvSpPr>
          <p:cNvPr id="14" name="Text 12"/>
          <p:cNvSpPr txBox="1"/>
          <p:nvPr/>
        </p:nvSpPr>
        <p:spPr>
          <a:xfrm>
            <a:off x="7498080" y="3749040"/>
            <a:ext cx="3840480" cy="685800"/>
          </a:xfrm>
          <a:prstGeom prst="rect">
            <a:avLst/>
          </a:prstGeom>
          <a:noFill/>
          <a:ln/>
        </p:spPr>
        <p:txBody>
          <a:bodyPr wrap="square" lIns="0" tIns="0" rIns="0" bIns="0" rtlCol="0" anchor="ctr"/>
          <a:lstStyle/>
          <a:p>
            <a:pPr indent="0" marL="0">
              <a:lnSpc>
                <a:spcPct val="120000"/>
              </a:lnSpc>
              <a:buNone/>
            </a:pPr>
            <a:r>
              <a:rPr lang="en-US" sz="1150" dirty="0">
                <a:solidFill>
                  <a:srgbClr val="22252B"/>
                </a:solidFill>
                <a:latin typeface="Calibri" pitchFamily="34" charset="0"/>
                <a:ea typeface="Calibri" pitchFamily="34" charset="-122"/>
                <a:cs typeface="Calibri" pitchFamily="34" charset="-120"/>
              </a:rPr>
              <a:t>Replaneja o plano conforme o progresso do aluno.</a:t>
            </a:r>
            <a:endParaRPr lang="en-US" sz="1150" dirty="0"/>
          </a:p>
        </p:txBody>
      </p:sp>
      <p:sp>
        <p:nvSpPr>
          <p:cNvPr id="15" name="Shape 13"/>
          <p:cNvSpPr/>
          <p:nvPr/>
        </p:nvSpPr>
        <p:spPr>
          <a:xfrm>
            <a:off x="7223760" y="4709160"/>
            <a:ext cx="4389120" cy="1234440"/>
          </a:xfrm>
          <a:prstGeom prst="roundRect">
            <a:avLst>
              <a:gd name="adj" fmla="val 6667"/>
            </a:avLst>
          </a:prstGeom>
          <a:solidFill>
            <a:srgbClr val="F96167"/>
          </a:solidFill>
          <a:ln/>
        </p:spPr>
      </p:sp>
      <p:sp>
        <p:nvSpPr>
          <p:cNvPr id="16" name="Text 14"/>
          <p:cNvSpPr txBox="1"/>
          <p:nvPr/>
        </p:nvSpPr>
        <p:spPr>
          <a:xfrm>
            <a:off x="7498080" y="4837176"/>
            <a:ext cx="38404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Este projeto</a:t>
            </a:r>
            <a:endParaRPr lang="en-US" sz="1300" dirty="0"/>
          </a:p>
        </p:txBody>
      </p:sp>
      <p:sp>
        <p:nvSpPr>
          <p:cNvPr id="17" name="Text 15"/>
          <p:cNvSpPr txBox="1"/>
          <p:nvPr/>
        </p:nvSpPr>
        <p:spPr>
          <a:xfrm>
            <a:off x="7498080" y="5166360"/>
            <a:ext cx="3840480" cy="685800"/>
          </a:xfrm>
          <a:prstGeom prst="rect">
            <a:avLst/>
          </a:prstGeom>
          <a:noFill/>
          <a:ln/>
        </p:spPr>
        <p:txBody>
          <a:bodyPr wrap="square" lIns="0" tIns="0" rIns="0" bIns="0" rtlCol="0" anchor="ctr"/>
          <a:lstStyle/>
          <a:p>
            <a:pPr indent="0" marL="0">
              <a:lnSpc>
                <a:spcPct val="120000"/>
              </a:lnSpc>
              <a:buNone/>
            </a:pPr>
            <a:r>
              <a:rPr lang="en-US" sz="1150" dirty="0">
                <a:solidFill>
                  <a:srgbClr val="FFFFFF"/>
                </a:solidFill>
                <a:latin typeface="Calibri" pitchFamily="34" charset="0"/>
                <a:ea typeface="Calibri" pitchFamily="34" charset="-122"/>
                <a:cs typeface="Calibri" pitchFamily="34" charset="-120"/>
              </a:rPr>
              <a:t>Classificador único treinado sobre vários alunos; recomenda uma categoria (A–D) a partir do perfil.</a:t>
            </a:r>
            <a:endParaRPr lang="en-US" sz="1150" dirty="0"/>
          </a:p>
        </p:txBody>
      </p:sp>
      <p:sp>
        <p:nvSpPr>
          <p:cNvPr id="19" name="Text 16"/>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Recomendação de Treinos Personalizados — AP1</a:t>
            </a:r>
            <a:endParaRPr lang="en-US" sz="900" dirty="0"/>
          </a:p>
        </p:txBody>
      </p:sp>
      <p:sp>
        <p:nvSpPr>
          <p:cNvPr id="20" name="Text 17"/>
          <p:cNvSpPr txBox="1"/>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9144000" cy="274320"/>
          </a:xfrm>
          <a:prstGeom prst="rect">
            <a:avLst/>
          </a:prstGeom>
          <a:noFill/>
          <a:ln/>
        </p:spPr>
        <p:txBody>
          <a:bodyPr wrap="square" lIns="0" tIns="0" rIns="0" bIns="0" rtlCol="0" anchor="ctr"/>
          <a:lstStyle/>
          <a:p>
            <a:pPr indent="0" marL="0">
              <a:buNone/>
            </a:pPr>
            <a:r>
              <a:rPr lang="en-US" sz="1200" b="1" spc="200" kern="0" dirty="0">
                <a:solidFill>
                  <a:srgbClr val="F96167"/>
                </a:solidFill>
                <a:latin typeface="Calibri" pitchFamily="34" charset="0"/>
                <a:ea typeface="Calibri" pitchFamily="34" charset="-122"/>
                <a:cs typeface="Calibri" pitchFamily="34" charset="-120"/>
              </a:rPr>
              <a:t>4. BASE DE DADOS E ORIGEM</a:t>
            </a:r>
            <a:endParaRPr lang="en-US" sz="1200" dirty="0"/>
          </a:p>
        </p:txBody>
      </p:sp>
      <p:sp>
        <p:nvSpPr>
          <p:cNvPr id="3" name="Text 1"/>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200" b="1" dirty="0">
                <a:solidFill>
                  <a:srgbClr val="2F3C7E"/>
                </a:solidFill>
                <a:latin typeface="Cambria" pitchFamily="34" charset="0"/>
                <a:ea typeface="Cambria" pitchFamily="34" charset="-122"/>
                <a:cs typeface="Cambria" pitchFamily="34" charset="-120"/>
              </a:rPr>
              <a:t>300 alunos simulados, 8 colunas</a:t>
            </a:r>
            <a:endParaRPr lang="en-US" sz="3200" dirty="0"/>
          </a:p>
        </p:txBody>
      </p:sp>
      <p:sp>
        <p:nvSpPr>
          <p:cNvPr id="4" name="Text 2"/>
          <p:cNvSpPr txBox="1"/>
          <p:nvPr/>
        </p:nvSpPr>
        <p:spPr>
          <a:xfrm>
            <a:off x="548640" y="1463040"/>
            <a:ext cx="1463040" cy="731520"/>
          </a:xfrm>
          <a:prstGeom prst="rect">
            <a:avLst/>
          </a:prstGeom>
          <a:noFill/>
          <a:ln/>
        </p:spPr>
        <p:txBody>
          <a:bodyPr wrap="square" lIns="0" tIns="0" rIns="0" bIns="0" rtlCol="0" anchor="ctr"/>
          <a:lstStyle/>
          <a:p>
            <a:pPr algn="ctr" indent="0" marL="0">
              <a:buNone/>
            </a:pPr>
            <a:r>
              <a:rPr lang="en-US" sz="4200" b="1" dirty="0">
                <a:solidFill>
                  <a:srgbClr val="F96167"/>
                </a:solidFill>
                <a:latin typeface="Cambria" pitchFamily="34" charset="0"/>
                <a:ea typeface="Cambria" pitchFamily="34" charset="-122"/>
                <a:cs typeface="Cambria" pitchFamily="34" charset="-120"/>
              </a:rPr>
              <a:t>300</a:t>
            </a:r>
            <a:endParaRPr lang="en-US" sz="4200" dirty="0"/>
          </a:p>
        </p:txBody>
      </p:sp>
      <p:sp>
        <p:nvSpPr>
          <p:cNvPr id="5" name="Text 3"/>
          <p:cNvSpPr txBox="1"/>
          <p:nvPr/>
        </p:nvSpPr>
        <p:spPr>
          <a:xfrm>
            <a:off x="548640" y="2194560"/>
            <a:ext cx="1463040" cy="32004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registros</a:t>
            </a:r>
            <a:endParaRPr lang="en-US" sz="1100" dirty="0"/>
          </a:p>
        </p:txBody>
      </p:sp>
      <p:sp>
        <p:nvSpPr>
          <p:cNvPr id="6" name="Text 4"/>
          <p:cNvSpPr txBox="1"/>
          <p:nvPr/>
        </p:nvSpPr>
        <p:spPr>
          <a:xfrm>
            <a:off x="2148840" y="1463040"/>
            <a:ext cx="1463040" cy="731520"/>
          </a:xfrm>
          <a:prstGeom prst="rect">
            <a:avLst/>
          </a:prstGeom>
          <a:noFill/>
          <a:ln/>
        </p:spPr>
        <p:txBody>
          <a:bodyPr wrap="square" lIns="0" tIns="0" rIns="0" bIns="0" rtlCol="0" anchor="ctr"/>
          <a:lstStyle/>
          <a:p>
            <a:pPr algn="ctr" indent="0" marL="0">
              <a:buNone/>
            </a:pPr>
            <a:r>
              <a:rPr lang="en-US" sz="4200" b="1" dirty="0">
                <a:solidFill>
                  <a:srgbClr val="F96167"/>
                </a:solidFill>
                <a:latin typeface="Cambria" pitchFamily="34" charset="0"/>
                <a:ea typeface="Cambria" pitchFamily="34" charset="-122"/>
                <a:cs typeface="Cambria" pitchFamily="34" charset="-120"/>
              </a:rPr>
              <a:t>8</a:t>
            </a:r>
            <a:endParaRPr lang="en-US" sz="4200" dirty="0"/>
          </a:p>
        </p:txBody>
      </p:sp>
      <p:sp>
        <p:nvSpPr>
          <p:cNvPr id="7" name="Text 5"/>
          <p:cNvSpPr txBox="1"/>
          <p:nvPr/>
        </p:nvSpPr>
        <p:spPr>
          <a:xfrm>
            <a:off x="2148840" y="2194560"/>
            <a:ext cx="1463040" cy="32004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colunas</a:t>
            </a:r>
            <a:endParaRPr lang="en-US" sz="1100" dirty="0"/>
          </a:p>
        </p:txBody>
      </p:sp>
      <p:sp>
        <p:nvSpPr>
          <p:cNvPr id="8" name="Text 6"/>
          <p:cNvSpPr txBox="1"/>
          <p:nvPr/>
        </p:nvSpPr>
        <p:spPr>
          <a:xfrm>
            <a:off x="3749040" y="1463040"/>
            <a:ext cx="1463040" cy="731520"/>
          </a:xfrm>
          <a:prstGeom prst="rect">
            <a:avLst/>
          </a:prstGeom>
          <a:noFill/>
          <a:ln/>
        </p:spPr>
        <p:txBody>
          <a:bodyPr wrap="square" lIns="0" tIns="0" rIns="0" bIns="0" rtlCol="0" anchor="ctr"/>
          <a:lstStyle/>
          <a:p>
            <a:pPr algn="ctr" indent="0" marL="0">
              <a:buNone/>
            </a:pPr>
            <a:r>
              <a:rPr lang="en-US" sz="4200" b="1" dirty="0">
                <a:solidFill>
                  <a:srgbClr val="F96167"/>
                </a:solidFill>
                <a:latin typeface="Cambria" pitchFamily="34" charset="0"/>
                <a:ea typeface="Cambria" pitchFamily="34" charset="-122"/>
                <a:cs typeface="Cambria" pitchFamily="34" charset="-120"/>
              </a:rPr>
              <a:t>6</a:t>
            </a:r>
            <a:endParaRPr lang="en-US" sz="4200" dirty="0"/>
          </a:p>
        </p:txBody>
      </p:sp>
      <p:sp>
        <p:nvSpPr>
          <p:cNvPr id="9" name="Text 7"/>
          <p:cNvSpPr txBox="1"/>
          <p:nvPr/>
        </p:nvSpPr>
        <p:spPr>
          <a:xfrm>
            <a:off x="3749040" y="2194560"/>
            <a:ext cx="1463040" cy="32004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features</a:t>
            </a:r>
            <a:endParaRPr lang="en-US" sz="1100" dirty="0"/>
          </a:p>
        </p:txBody>
      </p:sp>
      <p:sp>
        <p:nvSpPr>
          <p:cNvPr id="10" name="Text 8"/>
          <p:cNvSpPr txBox="1"/>
          <p:nvPr/>
        </p:nvSpPr>
        <p:spPr>
          <a:xfrm>
            <a:off x="5349240" y="1463040"/>
            <a:ext cx="1463040" cy="731520"/>
          </a:xfrm>
          <a:prstGeom prst="rect">
            <a:avLst/>
          </a:prstGeom>
          <a:noFill/>
          <a:ln/>
        </p:spPr>
        <p:txBody>
          <a:bodyPr wrap="square" lIns="0" tIns="0" rIns="0" bIns="0" rtlCol="0" anchor="ctr"/>
          <a:lstStyle/>
          <a:p>
            <a:pPr algn="ctr" indent="0" marL="0">
              <a:buNone/>
            </a:pPr>
            <a:r>
              <a:rPr lang="en-US" sz="4200" b="1" dirty="0">
                <a:solidFill>
                  <a:srgbClr val="F96167"/>
                </a:solidFill>
                <a:latin typeface="Cambria" pitchFamily="34" charset="0"/>
                <a:ea typeface="Cambria" pitchFamily="34" charset="-122"/>
                <a:cs typeface="Cambria" pitchFamily="34" charset="-120"/>
              </a:rPr>
              <a:t>4</a:t>
            </a:r>
            <a:endParaRPr lang="en-US" sz="4200" dirty="0"/>
          </a:p>
        </p:txBody>
      </p:sp>
      <p:sp>
        <p:nvSpPr>
          <p:cNvPr id="11" name="Text 9"/>
          <p:cNvSpPr txBox="1"/>
          <p:nvPr/>
        </p:nvSpPr>
        <p:spPr>
          <a:xfrm>
            <a:off x="5349240" y="2194560"/>
            <a:ext cx="1463040" cy="32004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classes de saída</a:t>
            </a:r>
            <a:endParaRPr lang="en-US" sz="1100" dirty="0"/>
          </a:p>
        </p:txBody>
      </p:sp>
      <p:sp>
        <p:nvSpPr>
          <p:cNvPr id="12" name="Shape 10"/>
          <p:cNvSpPr/>
          <p:nvPr/>
        </p:nvSpPr>
        <p:spPr>
          <a:xfrm>
            <a:off x="548640" y="2743200"/>
            <a:ext cx="11064240" cy="0"/>
          </a:xfrm>
          <a:prstGeom prst="line">
            <a:avLst/>
          </a:prstGeom>
          <a:noFill/>
          <a:ln w="12700">
            <a:solidFill>
              <a:srgbClr val="DDE1EC"/>
            </a:solidFill>
            <a:prstDash val="solid"/>
          </a:ln>
        </p:spPr>
      </p:sp>
      <p:sp>
        <p:nvSpPr>
          <p:cNvPr id="13" name="Text 11"/>
          <p:cNvSpPr txBox="1"/>
          <p:nvPr/>
        </p:nvSpPr>
        <p:spPr>
          <a:xfrm>
            <a:off x="548640" y="2971800"/>
            <a:ext cx="5394960" cy="292608"/>
          </a:xfrm>
          <a:prstGeom prst="rect">
            <a:avLst/>
          </a:prstGeom>
          <a:noFill/>
          <a:ln/>
        </p:spPr>
        <p:txBody>
          <a:bodyPr wrap="square" lIns="0" tIns="0" rIns="0" bIns="0" rtlCol="0" anchor="ctr"/>
          <a:lstStyle/>
          <a:p>
            <a:pPr indent="0" marL="0">
              <a:buNone/>
            </a:pPr>
            <a:r>
              <a:rPr lang="en-US" sz="1400" b="1" dirty="0">
                <a:solidFill>
                  <a:srgbClr val="2F3C7E"/>
                </a:solidFill>
                <a:latin typeface="Calibri" pitchFamily="34" charset="0"/>
                <a:ea typeface="Calibri" pitchFamily="34" charset="-122"/>
                <a:cs typeface="Calibri" pitchFamily="34" charset="-120"/>
              </a:rPr>
              <a:t>Origem</a:t>
            </a:r>
            <a:endParaRPr lang="en-US" sz="1400" dirty="0"/>
          </a:p>
        </p:txBody>
      </p:sp>
      <p:sp>
        <p:nvSpPr>
          <p:cNvPr id="14" name="Text 12"/>
          <p:cNvSpPr txBox="1"/>
          <p:nvPr/>
        </p:nvSpPr>
        <p:spPr>
          <a:xfrm>
            <a:off x="548640" y="3310128"/>
            <a:ext cx="5394960" cy="1737360"/>
          </a:xfrm>
          <a:prstGeom prst="rect">
            <a:avLst/>
          </a:prstGeom>
          <a:noFill/>
          <a:ln/>
        </p:spPr>
        <p:txBody>
          <a:bodyPr wrap="square" lIns="0" tIns="0" rIns="0" bIns="0" rtlCol="0" anchor="ctr"/>
          <a:lstStyle/>
          <a:p>
            <a:pPr indent="0" marL="0">
              <a:lnSpc>
                <a:spcPct val="125000"/>
              </a:lnSpc>
              <a:buNone/>
            </a:pPr>
            <a:r>
              <a:rPr lang="en-US" sz="1250" dirty="0">
                <a:solidFill>
                  <a:srgbClr val="22252B"/>
                </a:solidFill>
                <a:latin typeface="Calibri" pitchFamily="34" charset="0"/>
                <a:ea typeface="Calibri" pitchFamily="34" charset="-122"/>
                <a:cs typeface="Calibri" pitchFamily="34" charset="-120"/>
              </a:rPr>
              <a:t>Dados sintéticos, gerados em Python (pandas + numpy) a partir de distribuições estatísticas plausíveis e regras de associação entre perfil e treino, com 8% de ruído aleatório para simular exceções. Geração reprodutível (script gerar_dataset.py, seed fixa).</a:t>
            </a:r>
            <a:endParaRPr lang="en-US" sz="1250" dirty="0"/>
          </a:p>
        </p:txBody>
      </p:sp>
      <p:sp>
        <p:nvSpPr>
          <p:cNvPr id="15" name="Text 13"/>
          <p:cNvSpPr txBox="1"/>
          <p:nvPr/>
        </p:nvSpPr>
        <p:spPr>
          <a:xfrm>
            <a:off x="548640" y="5074920"/>
            <a:ext cx="5394960" cy="292608"/>
          </a:xfrm>
          <a:prstGeom prst="rect">
            <a:avLst/>
          </a:prstGeom>
          <a:noFill/>
          <a:ln/>
        </p:spPr>
        <p:txBody>
          <a:bodyPr wrap="square" lIns="0" tIns="0" rIns="0" bIns="0" rtlCol="0" anchor="ctr"/>
          <a:lstStyle/>
          <a:p>
            <a:pPr indent="0" marL="0">
              <a:buNone/>
            </a:pPr>
            <a:r>
              <a:rPr lang="en-US" sz="1400" b="1" dirty="0">
                <a:solidFill>
                  <a:srgbClr val="2F3C7E"/>
                </a:solidFill>
                <a:latin typeface="Calibri" pitchFamily="34" charset="0"/>
                <a:ea typeface="Calibri" pitchFamily="34" charset="-122"/>
                <a:cs typeface="Calibri" pitchFamily="34" charset="-120"/>
              </a:rPr>
              <a:t>Licença e uso</a:t>
            </a:r>
            <a:endParaRPr lang="en-US" sz="1400" dirty="0"/>
          </a:p>
        </p:txBody>
      </p:sp>
      <p:sp>
        <p:nvSpPr>
          <p:cNvPr id="16" name="Text 14"/>
          <p:cNvSpPr txBox="1"/>
          <p:nvPr/>
        </p:nvSpPr>
        <p:spPr>
          <a:xfrm>
            <a:off x="548640" y="5413248"/>
            <a:ext cx="5394960" cy="548640"/>
          </a:xfrm>
          <a:prstGeom prst="rect">
            <a:avLst/>
          </a:prstGeom>
          <a:noFill/>
          <a:ln/>
        </p:spPr>
        <p:txBody>
          <a:bodyPr wrap="square" lIns="0" tIns="0" rIns="0" bIns="0" rtlCol="0" anchor="ctr"/>
          <a:lstStyle/>
          <a:p>
            <a:pPr indent="0" marL="0">
              <a:buNone/>
            </a:pPr>
            <a:r>
              <a:rPr lang="en-US" sz="1250" dirty="0">
                <a:solidFill>
                  <a:srgbClr val="22252B"/>
                </a:solidFill>
                <a:latin typeface="Calibri" pitchFamily="34" charset="0"/>
                <a:ea typeface="Calibri" pitchFamily="34" charset="-122"/>
                <a:cs typeface="Calibri" pitchFamily="34" charset="-120"/>
              </a:rPr>
              <a:t>Dataset próprio, uso livre para fins acadêmicos, sem restrição de licença.</a:t>
            </a:r>
            <a:endParaRPr lang="en-US" sz="1250" dirty="0"/>
          </a:p>
        </p:txBody>
      </p:sp>
      <p:sp>
        <p:nvSpPr>
          <p:cNvPr id="17" name="Shape 15"/>
          <p:cNvSpPr/>
          <p:nvPr/>
        </p:nvSpPr>
        <p:spPr>
          <a:xfrm>
            <a:off x="6309360" y="2971800"/>
            <a:ext cx="5303520" cy="3017520"/>
          </a:xfrm>
          <a:prstGeom prst="roundRect">
            <a:avLst>
              <a:gd name="adj" fmla="val 3030"/>
            </a:avLst>
          </a:prstGeom>
          <a:solidFill>
            <a:srgbClr val="F4F5FA"/>
          </a:solidFill>
          <a:ln/>
        </p:spPr>
      </p:sp>
      <p:sp>
        <p:nvSpPr>
          <p:cNvPr id="18" name="Text 16"/>
          <p:cNvSpPr txBox="1"/>
          <p:nvPr/>
        </p:nvSpPr>
        <p:spPr>
          <a:xfrm>
            <a:off x="6629400" y="3200400"/>
            <a:ext cx="4663440" cy="292608"/>
          </a:xfrm>
          <a:prstGeom prst="rect">
            <a:avLst/>
          </a:prstGeom>
          <a:noFill/>
          <a:ln/>
        </p:spPr>
        <p:txBody>
          <a:bodyPr wrap="square" lIns="0" tIns="0" rIns="0" bIns="0" rtlCol="0" anchor="ctr"/>
          <a:lstStyle/>
          <a:p>
            <a:pPr indent="0" marL="0">
              <a:buNone/>
            </a:pPr>
            <a:r>
              <a:rPr lang="en-US" sz="1300" b="1" dirty="0">
                <a:solidFill>
                  <a:srgbClr val="2F3C7E"/>
                </a:solidFill>
                <a:latin typeface="Calibri" pitchFamily="34" charset="0"/>
                <a:ea typeface="Calibri" pitchFamily="34" charset="-122"/>
                <a:cs typeface="Calibri" pitchFamily="34" charset="-120"/>
              </a:rPr>
              <a:t>Plano de dados reais</a:t>
            </a:r>
            <a:endParaRPr lang="en-US" sz="1300" dirty="0"/>
          </a:p>
        </p:txBody>
      </p:sp>
      <p:sp>
        <p:nvSpPr>
          <p:cNvPr id="19" name="Text 17"/>
          <p:cNvSpPr txBox="1"/>
          <p:nvPr/>
        </p:nvSpPr>
        <p:spPr>
          <a:xfrm>
            <a:off x="6629400" y="3566160"/>
            <a:ext cx="4663440" cy="2286000"/>
          </a:xfrm>
          <a:prstGeom prst="rect">
            <a:avLst/>
          </a:prstGeom>
          <a:noFill/>
          <a:ln/>
        </p:spPr>
        <p:txBody>
          <a:bodyPr wrap="square" lIns="0" tIns="0" rIns="0" bIns="0" rtlCol="0" anchor="ctr"/>
          <a:lstStyle/>
          <a:p>
            <a:pPr indent="0" marL="0">
              <a:lnSpc>
                <a:spcPct val="130000"/>
              </a:lnSpc>
              <a:buNone/>
            </a:pPr>
            <a:r>
              <a:rPr lang="en-US" sz="1250" dirty="0">
                <a:solidFill>
                  <a:srgbClr val="22252B"/>
                </a:solidFill>
                <a:latin typeface="Calibri" pitchFamily="34" charset="0"/>
                <a:ea typeface="Calibri" pitchFamily="34" charset="-122"/>
                <a:cs typeface="Calibri" pitchFamily="34" charset="-120"/>
              </a:rPr>
              <a:t>A base simulada é o ponto de partida. Ela será substituída por dados reais nos Encontros 5 e 8, quando o tratamento e a limpeza forem trabalhados — reduzindo o risco de o modelo aprender apenas padrões artificiais da simulação.</a:t>
            </a:r>
            <a:endParaRPr lang="en-US" sz="1250" dirty="0"/>
          </a:p>
        </p:txBody>
      </p:sp>
      <p:sp>
        <p:nvSpPr>
          <p:cNvPr id="21" name="Text 18"/>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Recomendação de Treinos Personalizados — AP1</a:t>
            </a:r>
            <a:endParaRPr lang="en-US" sz="900" dirty="0"/>
          </a:p>
        </p:txBody>
      </p:sp>
      <p:sp>
        <p:nvSpPr>
          <p:cNvPr id="22" name="Text 19"/>
          <p:cNvSpPr txBox="1"/>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9144000" cy="274320"/>
          </a:xfrm>
          <a:prstGeom prst="rect">
            <a:avLst/>
          </a:prstGeom>
          <a:noFill/>
          <a:ln/>
        </p:spPr>
        <p:txBody>
          <a:bodyPr wrap="square" lIns="0" tIns="0" rIns="0" bIns="0" rtlCol="0" anchor="ctr"/>
          <a:lstStyle/>
          <a:p>
            <a:pPr indent="0" marL="0">
              <a:buNone/>
            </a:pPr>
            <a:r>
              <a:rPr lang="en-US" sz="1200" b="1" spc="200" kern="0" dirty="0">
                <a:solidFill>
                  <a:srgbClr val="F96167"/>
                </a:solidFill>
                <a:latin typeface="Calibri" pitchFamily="34" charset="0"/>
                <a:ea typeface="Calibri" pitchFamily="34" charset="-122"/>
                <a:cs typeface="Calibri" pitchFamily="34" charset="-120"/>
              </a:rPr>
              <a:t>5. DICIONÁRIO DE DADOS</a:t>
            </a:r>
            <a:endParaRPr lang="en-US" sz="1200" dirty="0"/>
          </a:p>
        </p:txBody>
      </p:sp>
      <p:sp>
        <p:nvSpPr>
          <p:cNvPr id="3" name="Text 1"/>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200" b="1" dirty="0">
                <a:solidFill>
                  <a:srgbClr val="2F3C7E"/>
                </a:solidFill>
                <a:latin typeface="Cambria" pitchFamily="34" charset="0"/>
                <a:ea typeface="Cambria" pitchFamily="34" charset="-122"/>
                <a:cs typeface="Cambria" pitchFamily="34" charset="-120"/>
              </a:rPr>
              <a:t>Estrutura das variáveis (resumo)</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4206240"/>
        </p:xfrm>
        <a:graphic>
          <a:graphicData uri="http://schemas.openxmlformats.org/drawingml/2006/table">
            <a:tbl>
              <a:tblPr/>
              <a:tblGrid>
                <a:gridCol w="2834640"/>
                <a:gridCol w="2377440"/>
                <a:gridCol w="1737360"/>
                <a:gridCol w="4114800"/>
              </a:tblGrid>
              <a:tr h="530352">
                <a:tc>
                  <a:txBody>
                    <a:bodyPr/>
                    <a:lstStyle/>
                    <a:p>
                      <a:pPr indent="0" marL="0">
                        <a:buNone/>
                      </a:pPr>
                      <a:r>
                        <a:rPr lang="en-US" sz="1150" b="1" dirty="0">
                          <a:solidFill>
                            <a:srgbClr val="FFFFFF"/>
                          </a:solidFill>
                        </a:rPr>
                        <a:t>Variável</a:t>
                      </a:r>
                      <a:endParaRPr lang="en-US" sz="115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solidFill>
                      <a:srgbClr val="2F3C7E"/>
                    </a:solidFill>
                  </a:tcPr>
                </a:tc>
                <a:tc>
                  <a:txBody>
                    <a:bodyPr/>
                    <a:lstStyle/>
                    <a:p>
                      <a:pPr indent="0" marL="0">
                        <a:buNone/>
                      </a:pPr>
                      <a:r>
                        <a:rPr lang="en-US" sz="1150" b="1" dirty="0">
                          <a:solidFill>
                            <a:srgbClr val="FFFFFF"/>
                          </a:solidFill>
                        </a:rPr>
                        <a:t>Tipo</a:t>
                      </a:r>
                      <a:endParaRPr lang="en-US" sz="115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solidFill>
                      <a:srgbClr val="2F3C7E"/>
                    </a:solidFill>
                  </a:tcPr>
                </a:tc>
                <a:tc>
                  <a:txBody>
                    <a:bodyPr/>
                    <a:lstStyle/>
                    <a:p>
                      <a:pPr indent="0" marL="0">
                        <a:buNone/>
                      </a:pPr>
                      <a:r>
                        <a:rPr lang="en-US" sz="1150" b="1" dirty="0">
                          <a:solidFill>
                            <a:srgbClr val="FFFFFF"/>
                          </a:solidFill>
                        </a:rPr>
                        <a:t>Papel</a:t>
                      </a:r>
                      <a:endParaRPr lang="en-US" sz="115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solidFill>
                      <a:srgbClr val="2F3C7E"/>
                    </a:solidFill>
                  </a:tcPr>
                </a:tc>
                <a:tc>
                  <a:txBody>
                    <a:bodyPr/>
                    <a:lstStyle/>
                    <a:p>
                      <a:pPr indent="0" marL="0">
                        <a:buNone/>
                      </a:pPr>
                      <a:r>
                        <a:rPr lang="en-US" sz="1150" b="1" dirty="0">
                          <a:solidFill>
                            <a:srgbClr val="FFFFFF"/>
                          </a:solidFill>
                        </a:rPr>
                        <a:t>Observação</a:t>
                      </a:r>
                      <a:endParaRPr lang="en-US" sz="115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solidFill>
                      <a:srgbClr val="2F3C7E"/>
                    </a:solidFill>
                  </a:tcPr>
                </a:tc>
              </a:tr>
              <a:tr h="530352">
                <a:tc>
                  <a:txBody>
                    <a:bodyPr/>
                    <a:lstStyle/>
                    <a:p>
                      <a:pPr indent="0" marL="0">
                        <a:buNone/>
                      </a:pPr>
                      <a:r>
                        <a:rPr lang="en-US" sz="1150" dirty="0">
                          <a:solidFill>
                            <a:srgbClr val="22252B"/>
                          </a:solidFill>
                        </a:rPr>
                        <a:t>idade</a:t>
                      </a:r>
                      <a:endParaRPr lang="en-US" sz="115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indent="0" marL="0">
                        <a:buNone/>
                      </a:pPr>
                      <a:r>
                        <a:rPr lang="en-US" sz="1150" dirty="0">
                          <a:solidFill>
                            <a:srgbClr val="22252B"/>
                          </a:solidFill>
                        </a:rPr>
                        <a:t>Numérica contínua</a:t>
                      </a:r>
                      <a:endParaRPr lang="en-US" sz="115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indent="0" marL="0">
                        <a:buNone/>
                      </a:pPr>
                      <a:r>
                        <a:rPr lang="en-US" sz="1150" dirty="0">
                          <a:solidFill>
                            <a:srgbClr val="22252B"/>
                          </a:solidFill>
                        </a:rPr>
                        <a:t>Entrada</a:t>
                      </a:r>
                      <a:endParaRPr lang="en-US" sz="115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indent="0" marL="0">
                        <a:buNone/>
                      </a:pPr>
                      <a:r>
                        <a:rPr lang="en-US" sz="1150" dirty="0">
                          <a:solidFill>
                            <a:srgbClr val="22252B"/>
                          </a:solidFill>
                        </a:rPr>
                        <a:t>16–65 anos, média ~29</a:t>
                      </a:r>
                      <a:endParaRPr lang="en-US" sz="115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r>
              <a:tr h="530352">
                <a:tc>
                  <a:txBody>
                    <a:bodyPr/>
                    <a:lstStyle/>
                    <a:p>
                      <a:pPr indent="0" marL="0">
                        <a:buNone/>
                      </a:pPr>
                      <a:r>
                        <a:rPr lang="en-US" sz="1150" dirty="0">
                          <a:solidFill>
                            <a:srgbClr val="22252B"/>
                          </a:solidFill>
                        </a:rPr>
                        <a:t>objetivo</a:t>
                      </a:r>
                      <a:endParaRPr lang="en-US" sz="115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indent="0" marL="0">
                        <a:buNone/>
                      </a:pPr>
                      <a:r>
                        <a:rPr lang="en-US" sz="1150" dirty="0">
                          <a:solidFill>
                            <a:srgbClr val="22252B"/>
                          </a:solidFill>
                        </a:rPr>
                        <a:t>Categórica nominal</a:t>
                      </a:r>
                      <a:endParaRPr lang="en-US" sz="115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indent="0" marL="0">
                        <a:buNone/>
                      </a:pPr>
                      <a:r>
                        <a:rPr lang="en-US" sz="1150" dirty="0">
                          <a:solidFill>
                            <a:srgbClr val="22252B"/>
                          </a:solidFill>
                        </a:rPr>
                        <a:t>Entrada</a:t>
                      </a:r>
                      <a:endParaRPr lang="en-US" sz="115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indent="0" marL="0">
                        <a:buNone/>
                      </a:pPr>
                      <a:r>
                        <a:rPr lang="en-US" sz="1150" dirty="0">
                          <a:solidFill>
                            <a:srgbClr val="22252B"/>
                          </a:solidFill>
                        </a:rPr>
                        <a:t>Emagrecimento / Hipertrofia / Condicionamento</a:t>
                      </a:r>
                      <a:endParaRPr lang="en-US" sz="115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r>
              <a:tr h="530352">
                <a:tc>
                  <a:txBody>
                    <a:bodyPr/>
                    <a:lstStyle/>
                    <a:p>
                      <a:pPr indent="0" marL="0">
                        <a:buNone/>
                      </a:pPr>
                      <a:r>
                        <a:rPr lang="en-US" sz="1150" dirty="0">
                          <a:solidFill>
                            <a:srgbClr val="22252B"/>
                          </a:solidFill>
                        </a:rPr>
                        <a:t>nivel_experiencia</a:t>
                      </a:r>
                      <a:endParaRPr lang="en-US" sz="115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indent="0" marL="0">
                        <a:buNone/>
                      </a:pPr>
                      <a:r>
                        <a:rPr lang="en-US" sz="1150" dirty="0">
                          <a:solidFill>
                            <a:srgbClr val="22252B"/>
                          </a:solidFill>
                        </a:rPr>
                        <a:t>Categórica ordinal</a:t>
                      </a:r>
                      <a:endParaRPr lang="en-US" sz="115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indent="0" marL="0">
                        <a:buNone/>
                      </a:pPr>
                      <a:r>
                        <a:rPr lang="en-US" sz="1150" dirty="0">
                          <a:solidFill>
                            <a:srgbClr val="22252B"/>
                          </a:solidFill>
                        </a:rPr>
                        <a:t>Entrada</a:t>
                      </a:r>
                      <a:endParaRPr lang="en-US" sz="115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indent="0" marL="0">
                        <a:buNone/>
                      </a:pPr>
                      <a:r>
                        <a:rPr lang="en-US" sz="1150" dirty="0">
                          <a:solidFill>
                            <a:srgbClr val="22252B"/>
                          </a:solidFill>
                        </a:rPr>
                        <a:t>Iniciante → Intermediário → Avançado</a:t>
                      </a:r>
                      <a:endParaRPr lang="en-US" sz="115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r>
              <a:tr h="530352">
                <a:tc>
                  <a:txBody>
                    <a:bodyPr/>
                    <a:lstStyle/>
                    <a:p>
                      <a:pPr indent="0" marL="0">
                        <a:buNone/>
                      </a:pPr>
                      <a:r>
                        <a:rPr lang="en-US" sz="1150" dirty="0">
                          <a:solidFill>
                            <a:srgbClr val="22252B"/>
                          </a:solidFill>
                        </a:rPr>
                        <a:t>dias_disponiveis_semana</a:t>
                      </a:r>
                      <a:endParaRPr lang="en-US" sz="115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indent="0" marL="0">
                        <a:buNone/>
                      </a:pPr>
                      <a:r>
                        <a:rPr lang="en-US" sz="1150" dirty="0">
                          <a:solidFill>
                            <a:srgbClr val="22252B"/>
                          </a:solidFill>
                        </a:rPr>
                        <a:t>Numérica discreta</a:t>
                      </a:r>
                      <a:endParaRPr lang="en-US" sz="115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indent="0" marL="0">
                        <a:buNone/>
                      </a:pPr>
                      <a:r>
                        <a:rPr lang="en-US" sz="1150" dirty="0">
                          <a:solidFill>
                            <a:srgbClr val="22252B"/>
                          </a:solidFill>
                        </a:rPr>
                        <a:t>Entrada</a:t>
                      </a:r>
                      <a:endParaRPr lang="en-US" sz="115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indent="0" marL="0">
                        <a:buNone/>
                      </a:pPr>
                      <a:r>
                        <a:rPr lang="en-US" sz="1150" dirty="0">
                          <a:solidFill>
                            <a:srgbClr val="22252B"/>
                          </a:solidFill>
                        </a:rPr>
                        <a:t>1–6 dias, média ~3,5</a:t>
                      </a:r>
                      <a:endParaRPr lang="en-US" sz="115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r>
              <a:tr h="530352">
                <a:tc>
                  <a:txBody>
                    <a:bodyPr/>
                    <a:lstStyle/>
                    <a:p>
                      <a:pPr indent="0" marL="0">
                        <a:buNone/>
                      </a:pPr>
                      <a:r>
                        <a:rPr lang="en-US" sz="1150" dirty="0">
                          <a:solidFill>
                            <a:srgbClr val="22252B"/>
                          </a:solidFill>
                        </a:rPr>
                        <a:t>restricao_fisica</a:t>
                      </a:r>
                      <a:endParaRPr lang="en-US" sz="115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indent="0" marL="0">
                        <a:buNone/>
                      </a:pPr>
                      <a:r>
                        <a:rPr lang="en-US" sz="1150" dirty="0">
                          <a:solidFill>
                            <a:srgbClr val="22252B"/>
                          </a:solidFill>
                        </a:rPr>
                        <a:t>Categórica nominal</a:t>
                      </a:r>
                      <a:endParaRPr lang="en-US" sz="115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indent="0" marL="0">
                        <a:buNone/>
                      </a:pPr>
                      <a:r>
                        <a:rPr lang="en-US" sz="1150" dirty="0">
                          <a:solidFill>
                            <a:srgbClr val="22252B"/>
                          </a:solidFill>
                        </a:rPr>
                        <a:t>Entrada</a:t>
                      </a:r>
                      <a:endParaRPr lang="en-US" sz="115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indent="0" marL="0">
                        <a:buNone/>
                      </a:pPr>
                      <a:r>
                        <a:rPr lang="en-US" sz="1150" dirty="0">
                          <a:solidFill>
                            <a:srgbClr val="22252B"/>
                          </a:solidFill>
                        </a:rPr>
                        <a:t>Nenhuma / Joelho / Ombro / Lombar</a:t>
                      </a:r>
                      <a:endParaRPr lang="en-US" sz="115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r>
              <a:tr h="530352">
                <a:tc>
                  <a:txBody>
                    <a:bodyPr/>
                    <a:lstStyle/>
                    <a:p>
                      <a:pPr indent="0" marL="0">
                        <a:buNone/>
                      </a:pPr>
                      <a:r>
                        <a:rPr lang="en-US" sz="1150" dirty="0">
                          <a:solidFill>
                            <a:srgbClr val="22252B"/>
                          </a:solidFill>
                        </a:rPr>
                        <a:t>equipamento_disponivel</a:t>
                      </a:r>
                      <a:endParaRPr lang="en-US" sz="115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indent="0" marL="0">
                        <a:buNone/>
                      </a:pPr>
                      <a:r>
                        <a:rPr lang="en-US" sz="1150" dirty="0">
                          <a:solidFill>
                            <a:srgbClr val="22252B"/>
                          </a:solidFill>
                        </a:rPr>
                        <a:t>Categórica ordinal</a:t>
                      </a:r>
                      <a:endParaRPr lang="en-US" sz="115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indent="0" marL="0">
                        <a:buNone/>
                      </a:pPr>
                      <a:r>
                        <a:rPr lang="en-US" sz="1150" dirty="0">
                          <a:solidFill>
                            <a:srgbClr val="22252B"/>
                          </a:solidFill>
                        </a:rPr>
                        <a:t>Entrada</a:t>
                      </a:r>
                      <a:endParaRPr lang="en-US" sz="115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indent="0" marL="0">
                        <a:buNone/>
                      </a:pPr>
                      <a:r>
                        <a:rPr lang="en-US" sz="1150" dirty="0">
                          <a:solidFill>
                            <a:srgbClr val="22252B"/>
                          </a:solidFill>
                        </a:rPr>
                        <a:t>Completo / Limitado / Nenhum</a:t>
                      </a:r>
                      <a:endParaRPr lang="en-US" sz="115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r>
              <a:tr h="530352">
                <a:tc>
                  <a:txBody>
                    <a:bodyPr/>
                    <a:lstStyle/>
                    <a:p>
                      <a:pPr indent="0" marL="0">
                        <a:buNone/>
                      </a:pPr>
                      <a:r>
                        <a:rPr lang="en-US" sz="1150" b="1" dirty="0">
                          <a:solidFill>
                            <a:srgbClr val="000000"/>
                          </a:solidFill>
                        </a:rPr>
                        <a:t>treino_recomendado</a:t>
                      </a:r>
                      <a:endParaRPr lang="en-US" sz="115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indent="0" marL="0">
                        <a:buNone/>
                      </a:pPr>
                      <a:r>
                        <a:rPr lang="en-US" sz="1150" dirty="0">
                          <a:solidFill>
                            <a:srgbClr val="22252B"/>
                          </a:solidFill>
                        </a:rPr>
                        <a:t>Categórica nominal</a:t>
                      </a:r>
                      <a:endParaRPr lang="en-US" sz="115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indent="0" marL="0">
                        <a:buNone/>
                      </a:pPr>
                      <a:r>
                        <a:rPr lang="en-US" sz="1150" b="1" dirty="0">
                          <a:solidFill>
                            <a:srgbClr val="F96167"/>
                          </a:solidFill>
                        </a:rPr>
                        <a:t>Saída (label)</a:t>
                      </a:r>
                      <a:endParaRPr lang="en-US" sz="115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indent="0" marL="0">
                        <a:buNone/>
                      </a:pPr>
                      <a:r>
                        <a:rPr lang="en-US" sz="1150" dirty="0">
                          <a:solidFill>
                            <a:srgbClr val="22252B"/>
                          </a:solidFill>
                        </a:rPr>
                        <a:t>Treino A, B, C ou D</a:t>
                      </a:r>
                      <a:endParaRPr lang="en-US" sz="115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r>
            </a:tbl>
          </a:graphicData>
        </a:graphic>
      </p:graphicFrame>
      <p:sp>
        <p:nvSpPr>
          <p:cNvPr id="5" name="Text 2"/>
          <p:cNvSpPr txBox="1"/>
          <p:nvPr/>
        </p:nvSpPr>
        <p:spPr>
          <a:xfrm>
            <a:off x="548640" y="5897880"/>
            <a:ext cx="10972800" cy="36576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aluno_id não é feature (apenas identificação) · 0% de valores ausentes na base atual</a:t>
            </a:r>
            <a:endParaRPr lang="en-US" sz="1100" dirty="0"/>
          </a:p>
        </p:txBody>
      </p:sp>
      <p:sp>
        <p:nvSpPr>
          <p:cNvPr id="7" name="Text 3"/>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Recomendação de Treinos Personalizados — AP1</a:t>
            </a:r>
            <a:endParaRPr lang="en-US" sz="900" dirty="0"/>
          </a:p>
        </p:txBody>
      </p:sp>
      <p:sp>
        <p:nvSpPr>
          <p:cNvPr id="8" name="Text 4"/>
          <p:cNvSpPr txBox="1"/>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9144000" cy="274320"/>
          </a:xfrm>
          <a:prstGeom prst="rect">
            <a:avLst/>
          </a:prstGeom>
          <a:noFill/>
          <a:ln/>
        </p:spPr>
        <p:txBody>
          <a:bodyPr wrap="square" lIns="0" tIns="0" rIns="0" bIns="0" rtlCol="0" anchor="ctr"/>
          <a:lstStyle/>
          <a:p>
            <a:pPr indent="0" marL="0">
              <a:buNone/>
            </a:pPr>
            <a:r>
              <a:rPr lang="en-US" sz="1200" b="1" spc="200" kern="0" dirty="0">
                <a:solidFill>
                  <a:srgbClr val="F96167"/>
                </a:solidFill>
                <a:latin typeface="Calibri" pitchFamily="34" charset="0"/>
                <a:ea typeface="Calibri" pitchFamily="34" charset="-122"/>
                <a:cs typeface="Calibri" pitchFamily="34" charset="-120"/>
              </a:rPr>
              <a:t>6. ANÁLISE INICIAL</a:t>
            </a:r>
            <a:endParaRPr lang="en-US" sz="1200" dirty="0"/>
          </a:p>
        </p:txBody>
      </p:sp>
      <p:sp>
        <p:nvSpPr>
          <p:cNvPr id="3" name="Text 1"/>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200" b="1" dirty="0">
                <a:solidFill>
                  <a:srgbClr val="2F3C7E"/>
                </a:solidFill>
                <a:latin typeface="Cambria" pitchFamily="34" charset="0"/>
                <a:ea typeface="Cambria" pitchFamily="34" charset="-122"/>
                <a:cs typeface="Cambria" pitchFamily="34" charset="-120"/>
              </a:rPr>
              <a:t>O que os dados mostram até aqui</a:t>
            </a:r>
            <a:endParaRPr lang="en-US" sz="3200" dirty="0"/>
          </a:p>
        </p:txBody>
      </p:sp>
      <p:sp>
        <p:nvSpPr>
          <p:cNvPr id="4" name="Shape 2"/>
          <p:cNvSpPr/>
          <p:nvPr/>
        </p:nvSpPr>
        <p:spPr>
          <a:xfrm>
            <a:off x="548640" y="1463040"/>
            <a:ext cx="1691640" cy="1371600"/>
          </a:xfrm>
          <a:prstGeom prst="roundRect">
            <a:avLst>
              <a:gd name="adj" fmla="val 6667"/>
            </a:avLst>
          </a:prstGeom>
          <a:solidFill>
            <a:srgbClr val="F4F5FA"/>
          </a:solidFill>
          <a:ln/>
        </p:spPr>
      </p:sp>
      <p:sp>
        <p:nvSpPr>
          <p:cNvPr id="5" name="Text 3"/>
          <p:cNvSpPr txBox="1"/>
          <p:nvPr/>
        </p:nvSpPr>
        <p:spPr>
          <a:xfrm>
            <a:off x="658368" y="1572768"/>
            <a:ext cx="1472184" cy="548640"/>
          </a:xfrm>
          <a:prstGeom prst="rect">
            <a:avLst/>
          </a:prstGeom>
          <a:noFill/>
          <a:ln/>
        </p:spPr>
        <p:txBody>
          <a:bodyPr wrap="square" lIns="0" tIns="0" rIns="0" bIns="0" rtlCol="0" anchor="ctr"/>
          <a:lstStyle/>
          <a:p>
            <a:pPr indent="0" marL="0">
              <a:buNone/>
            </a:pPr>
            <a:r>
              <a:rPr lang="en-US" sz="2100" b="1" dirty="0">
                <a:solidFill>
                  <a:srgbClr val="2F3C7E"/>
                </a:solidFill>
                <a:latin typeface="Cambria" pitchFamily="34" charset="0"/>
                <a:ea typeface="Cambria" pitchFamily="34" charset="-122"/>
                <a:cs typeface="Cambria" pitchFamily="34" charset="-120"/>
              </a:rPr>
              <a:t>29,3 anos</a:t>
            </a:r>
            <a:endParaRPr lang="en-US" sz="2100" dirty="0"/>
          </a:p>
        </p:txBody>
      </p:sp>
      <p:sp>
        <p:nvSpPr>
          <p:cNvPr id="6" name="Text 4"/>
          <p:cNvSpPr txBox="1"/>
          <p:nvPr/>
        </p:nvSpPr>
        <p:spPr>
          <a:xfrm>
            <a:off x="658368" y="2148840"/>
            <a:ext cx="1472184" cy="594360"/>
          </a:xfrm>
          <a:prstGeom prst="rect">
            <a:avLst/>
          </a:prstGeom>
          <a:noFill/>
          <a:ln/>
        </p:spPr>
        <p:txBody>
          <a:bodyPr wrap="square" lIns="0" tIns="0" rIns="0" bIns="0" rtlCol="0" anchor="ctr"/>
          <a:lstStyle/>
          <a:p>
            <a:pPr indent="0" marL="0">
              <a:lnSpc>
                <a:spcPct val="115000"/>
              </a:lnSpc>
              <a:buNone/>
            </a:pPr>
            <a:r>
              <a:rPr lang="en-US" sz="1050" dirty="0">
                <a:solidFill>
                  <a:srgbClr val="6B7280"/>
                </a:solidFill>
                <a:latin typeface="Calibri" pitchFamily="34" charset="0"/>
                <a:ea typeface="Calibri" pitchFamily="34" charset="-122"/>
                <a:cs typeface="Calibri" pitchFamily="34" charset="-120"/>
              </a:rPr>
              <a:t>idade média (DP ~7,7)</a:t>
            </a:r>
            <a:endParaRPr lang="en-US" sz="1050" dirty="0"/>
          </a:p>
        </p:txBody>
      </p:sp>
      <p:sp>
        <p:nvSpPr>
          <p:cNvPr id="7" name="Shape 5"/>
          <p:cNvSpPr/>
          <p:nvPr/>
        </p:nvSpPr>
        <p:spPr>
          <a:xfrm>
            <a:off x="2377440" y="1463040"/>
            <a:ext cx="1691640" cy="1371600"/>
          </a:xfrm>
          <a:prstGeom prst="roundRect">
            <a:avLst>
              <a:gd name="adj" fmla="val 6667"/>
            </a:avLst>
          </a:prstGeom>
          <a:solidFill>
            <a:srgbClr val="F4F5FA"/>
          </a:solidFill>
          <a:ln/>
        </p:spPr>
      </p:sp>
      <p:sp>
        <p:nvSpPr>
          <p:cNvPr id="8" name="Text 6"/>
          <p:cNvSpPr txBox="1"/>
          <p:nvPr/>
        </p:nvSpPr>
        <p:spPr>
          <a:xfrm>
            <a:off x="2487168" y="1572768"/>
            <a:ext cx="1472184" cy="548640"/>
          </a:xfrm>
          <a:prstGeom prst="rect">
            <a:avLst/>
          </a:prstGeom>
          <a:noFill/>
          <a:ln/>
        </p:spPr>
        <p:txBody>
          <a:bodyPr wrap="square" lIns="0" tIns="0" rIns="0" bIns="0" rtlCol="0" anchor="ctr"/>
          <a:lstStyle/>
          <a:p>
            <a:pPr indent="0" marL="0">
              <a:buNone/>
            </a:pPr>
            <a:r>
              <a:rPr lang="en-US" sz="2100" b="1" dirty="0">
                <a:solidFill>
                  <a:srgbClr val="2F3C7E"/>
                </a:solidFill>
                <a:latin typeface="Cambria" pitchFamily="34" charset="0"/>
                <a:ea typeface="Cambria" pitchFamily="34" charset="-122"/>
                <a:cs typeface="Cambria" pitchFamily="34" charset="-120"/>
              </a:rPr>
              <a:t>3,4 dias</a:t>
            </a:r>
            <a:endParaRPr lang="en-US" sz="2100" dirty="0"/>
          </a:p>
        </p:txBody>
      </p:sp>
      <p:sp>
        <p:nvSpPr>
          <p:cNvPr id="9" name="Text 7"/>
          <p:cNvSpPr txBox="1"/>
          <p:nvPr/>
        </p:nvSpPr>
        <p:spPr>
          <a:xfrm>
            <a:off x="2487168" y="2148840"/>
            <a:ext cx="1472184" cy="594360"/>
          </a:xfrm>
          <a:prstGeom prst="rect">
            <a:avLst/>
          </a:prstGeom>
          <a:noFill/>
          <a:ln/>
        </p:spPr>
        <p:txBody>
          <a:bodyPr wrap="square" lIns="0" tIns="0" rIns="0" bIns="0" rtlCol="0" anchor="ctr"/>
          <a:lstStyle/>
          <a:p>
            <a:pPr indent="0" marL="0">
              <a:lnSpc>
                <a:spcPct val="115000"/>
              </a:lnSpc>
              <a:buNone/>
            </a:pPr>
            <a:r>
              <a:rPr lang="en-US" sz="1050" dirty="0">
                <a:solidFill>
                  <a:srgbClr val="6B7280"/>
                </a:solidFill>
                <a:latin typeface="Calibri" pitchFamily="34" charset="0"/>
                <a:ea typeface="Calibri" pitchFamily="34" charset="-122"/>
                <a:cs typeface="Calibri" pitchFamily="34" charset="-120"/>
              </a:rPr>
              <a:t>disponibilidade média/semana</a:t>
            </a:r>
            <a:endParaRPr lang="en-US" sz="1050" dirty="0"/>
          </a:p>
        </p:txBody>
      </p:sp>
      <p:sp>
        <p:nvSpPr>
          <p:cNvPr id="10" name="Shape 8"/>
          <p:cNvSpPr/>
          <p:nvPr/>
        </p:nvSpPr>
        <p:spPr>
          <a:xfrm>
            <a:off x="4206240" y="1463040"/>
            <a:ext cx="1691640" cy="1371600"/>
          </a:xfrm>
          <a:prstGeom prst="roundRect">
            <a:avLst>
              <a:gd name="adj" fmla="val 6667"/>
            </a:avLst>
          </a:prstGeom>
          <a:solidFill>
            <a:srgbClr val="F4F5FA"/>
          </a:solidFill>
          <a:ln/>
        </p:spPr>
      </p:sp>
      <p:sp>
        <p:nvSpPr>
          <p:cNvPr id="11" name="Text 9"/>
          <p:cNvSpPr txBox="1"/>
          <p:nvPr/>
        </p:nvSpPr>
        <p:spPr>
          <a:xfrm>
            <a:off x="4315968" y="1572768"/>
            <a:ext cx="1472184" cy="548640"/>
          </a:xfrm>
          <a:prstGeom prst="rect">
            <a:avLst/>
          </a:prstGeom>
          <a:noFill/>
          <a:ln/>
        </p:spPr>
        <p:txBody>
          <a:bodyPr wrap="square" lIns="0" tIns="0" rIns="0" bIns="0" rtlCol="0" anchor="ctr"/>
          <a:lstStyle/>
          <a:p>
            <a:pPr indent="0" marL="0">
              <a:buNone/>
            </a:pPr>
            <a:r>
              <a:rPr lang="en-US" sz="2100" b="1" dirty="0">
                <a:solidFill>
                  <a:srgbClr val="2F3C7E"/>
                </a:solidFill>
                <a:latin typeface="Cambria" pitchFamily="34" charset="0"/>
                <a:ea typeface="Cambria" pitchFamily="34" charset="-122"/>
                <a:cs typeface="Cambria" pitchFamily="34" charset="-120"/>
              </a:rPr>
              <a:t>114</a:t>
            </a:r>
            <a:endParaRPr lang="en-US" sz="2100" dirty="0"/>
          </a:p>
        </p:txBody>
      </p:sp>
      <p:sp>
        <p:nvSpPr>
          <p:cNvPr id="12" name="Text 10"/>
          <p:cNvSpPr txBox="1"/>
          <p:nvPr/>
        </p:nvSpPr>
        <p:spPr>
          <a:xfrm>
            <a:off x="4315968" y="2148840"/>
            <a:ext cx="1472184" cy="594360"/>
          </a:xfrm>
          <a:prstGeom prst="rect">
            <a:avLst/>
          </a:prstGeom>
          <a:noFill/>
          <a:ln/>
        </p:spPr>
        <p:txBody>
          <a:bodyPr wrap="square" lIns="0" tIns="0" rIns="0" bIns="0" rtlCol="0" anchor="ctr"/>
          <a:lstStyle/>
          <a:p>
            <a:pPr indent="0" marL="0">
              <a:lnSpc>
                <a:spcPct val="115000"/>
              </a:lnSpc>
              <a:buNone/>
            </a:pPr>
            <a:r>
              <a:rPr lang="en-US" sz="1050" dirty="0">
                <a:solidFill>
                  <a:srgbClr val="6B7280"/>
                </a:solidFill>
                <a:latin typeface="Calibri" pitchFamily="34" charset="0"/>
                <a:ea typeface="Calibri" pitchFamily="34" charset="-122"/>
                <a:cs typeface="Calibri" pitchFamily="34" charset="-120"/>
              </a:rPr>
              <a:t>alunos com objetivo</a:t>
            </a:r>
            <a:endParaRPr lang="en-US" sz="1050" dirty="0"/>
          </a:p>
          <a:p>
            <a:pPr indent="0" marL="0">
              <a:lnSpc>
                <a:spcPct val="115000"/>
              </a:lnSpc>
              <a:buNone/>
            </a:pPr>
            <a:r>
              <a:rPr lang="en-US" sz="1050" dirty="0">
                <a:solidFill>
                  <a:srgbClr val="6B7280"/>
                </a:solidFill>
                <a:latin typeface="Calibri" pitchFamily="34" charset="0"/>
                <a:ea typeface="Calibri" pitchFamily="34" charset="-122"/>
                <a:cs typeface="Calibri" pitchFamily="34" charset="-120"/>
              </a:rPr>
              <a:t>Hipertrofia</a:t>
            </a:r>
            <a:endParaRPr lang="en-US" sz="1050" dirty="0"/>
          </a:p>
        </p:txBody>
      </p:sp>
      <p:sp>
        <p:nvSpPr>
          <p:cNvPr id="13" name="Text 11"/>
          <p:cNvSpPr txBox="1"/>
          <p:nvPr/>
        </p:nvSpPr>
        <p:spPr>
          <a:xfrm>
            <a:off x="548640" y="3063240"/>
            <a:ext cx="5486400" cy="1463040"/>
          </a:xfrm>
          <a:prstGeom prst="rect">
            <a:avLst/>
          </a:prstGeom>
          <a:noFill/>
          <a:ln/>
        </p:spPr>
        <p:txBody>
          <a:bodyPr wrap="square" lIns="0" tIns="0" rIns="0" bIns="0" rtlCol="0" anchor="ctr"/>
          <a:lstStyle/>
          <a:p>
            <a:pPr indent="0" marL="0">
              <a:lnSpc>
                <a:spcPct val="130000"/>
              </a:lnSpc>
              <a:buNone/>
            </a:pPr>
            <a:r>
              <a:rPr lang="en-US" sz="1300" dirty="0">
                <a:solidFill>
                  <a:srgbClr val="22252B"/>
                </a:solidFill>
                <a:latin typeface="Calibri" pitchFamily="34" charset="0"/>
                <a:ea typeface="Calibri" pitchFamily="34" charset="-122"/>
                <a:cs typeface="Calibri" pitchFamily="34" charset="-120"/>
              </a:rPr>
              <a:t>Público concentrado em jovens adultos, com dispersão relevante (16 a 51 anos). Objetivos relativamente equilibrados, com leve predominância de Hipertrofia. Maioria dos alunos é iniciante e sem restrição física.</a:t>
            </a:r>
            <a:endParaRPr lang="en-US" sz="1300" dirty="0"/>
          </a:p>
        </p:txBody>
      </p:sp>
      <p:sp>
        <p:nvSpPr>
          <p:cNvPr id="14" name="Shape 12"/>
          <p:cNvSpPr/>
          <p:nvPr/>
        </p:nvSpPr>
        <p:spPr>
          <a:xfrm>
            <a:off x="548640" y="4572000"/>
            <a:ext cx="5486400" cy="1051560"/>
          </a:xfrm>
          <a:prstGeom prst="roundRect">
            <a:avLst>
              <a:gd name="adj" fmla="val 7826"/>
            </a:avLst>
          </a:prstGeom>
          <a:solidFill>
            <a:srgbClr val="2F3C7E"/>
          </a:solidFill>
          <a:ln/>
        </p:spPr>
      </p:sp>
      <p:sp>
        <p:nvSpPr>
          <p:cNvPr id="15" name="Text 13"/>
          <p:cNvSpPr txBox="1"/>
          <p:nvPr/>
        </p:nvSpPr>
        <p:spPr>
          <a:xfrm>
            <a:off x="777240" y="4572000"/>
            <a:ext cx="4937760" cy="1051560"/>
          </a:xfrm>
          <a:prstGeom prst="rect">
            <a:avLst/>
          </a:prstGeom>
          <a:noFill/>
          <a:ln/>
        </p:spPr>
        <p:txBody>
          <a:bodyPr wrap="square" lIns="0" tIns="0" rIns="0" bIns="0" rtlCol="0" anchor="ctr"/>
          <a:lstStyle/>
          <a:p>
            <a:pPr indent="0" marL="0">
              <a:lnSpc>
                <a:spcPct val="120000"/>
              </a:lnSpc>
              <a:buNone/>
            </a:pPr>
            <a:r>
              <a:rPr lang="en-US" sz="1200" b="1" dirty="0">
                <a:solidFill>
                  <a:srgbClr val="F9E795"/>
                </a:solidFill>
                <a:latin typeface="Calibri" pitchFamily="34" charset="0"/>
                <a:ea typeface="Calibri" pitchFamily="34" charset="-122"/>
                <a:cs typeface="Calibri" pitchFamily="34" charset="-120"/>
              </a:rPr>
              <a:t>Interpretação:  </a:t>
            </a:r>
            <a:pPr indent="0" marL="0">
              <a:lnSpc>
                <a:spcPct val="120000"/>
              </a:lnSpc>
              <a:buNone/>
            </a:pPr>
            <a:r>
              <a:rPr lang="en-US" sz="1200" dirty="0">
                <a:solidFill>
                  <a:srgbClr val="FFFFFF"/>
                </a:solidFill>
                <a:latin typeface="Calibri" pitchFamily="34" charset="0"/>
                <a:ea typeface="Calibri" pitchFamily="34" charset="-122"/>
                <a:cs typeface="Calibri" pitchFamily="34" charset="-120"/>
              </a:rPr>
              <a:t>as classes do label (treinos A–D) ficaram razoavelmente balanceadas, o que favorece o treinamento futuro do classificador.</a:t>
            </a:r>
            <a:endParaRPr lang="en-US" sz="1200" dirty="0"/>
          </a:p>
        </p:txBody>
      </p:sp>
      <p:graphicFrame>
        <p:nvGraphicFramePr>
          <p:cNvPr id="16" name="Chart 0" descr=""/>
          <p:cNvGraphicFramePr/>
          <p:nvPr/>
        </p:nvGraphicFramePr>
        <p:xfrm>
          <a:off x="6355080" y="1463040"/>
          <a:ext cx="5257800" cy="4160520"/>
        </p:xfrm>
        <a:graphic xmlns:a="http://schemas.openxmlformats.org/drawingml/2006/main">
          <a:graphicData uri="http://schemas.openxmlformats.org/drawingml/2006/chart">
            <c:chart xmlns:c="http://schemas.openxmlformats.org/drawingml/2006/chart" r:id="rId1"/>
          </a:graphicData>
        </a:graphic>
      </p:graphicFrame>
      <p:sp>
        <p:nvSpPr>
          <p:cNvPr id="18" name="Text 14"/>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Recomendação de Treinos Personalizados — AP1</a:t>
            </a:r>
            <a:endParaRPr lang="en-US" sz="900" dirty="0"/>
          </a:p>
        </p:txBody>
      </p:sp>
      <p:sp>
        <p:nvSpPr>
          <p:cNvPr id="19" name="Text 15"/>
          <p:cNvSpPr txBox="1"/>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9144000" cy="274320"/>
          </a:xfrm>
          <a:prstGeom prst="rect">
            <a:avLst/>
          </a:prstGeom>
          <a:noFill/>
          <a:ln/>
        </p:spPr>
        <p:txBody>
          <a:bodyPr wrap="square" lIns="0" tIns="0" rIns="0" bIns="0" rtlCol="0" anchor="ctr"/>
          <a:lstStyle/>
          <a:p>
            <a:pPr indent="0" marL="0">
              <a:buNone/>
            </a:pPr>
            <a:r>
              <a:rPr lang="en-US" sz="1200" b="1" spc="200" kern="0" dirty="0">
                <a:solidFill>
                  <a:srgbClr val="F96167"/>
                </a:solidFill>
                <a:latin typeface="Calibri" pitchFamily="34" charset="0"/>
                <a:ea typeface="Calibri" pitchFamily="34" charset="-122"/>
                <a:cs typeface="Calibri" pitchFamily="34" charset="-120"/>
              </a:rPr>
              <a:t>7. DIAGNÓSTICO DE QUALIDADE</a:t>
            </a:r>
            <a:endParaRPr lang="en-US" sz="1200" dirty="0"/>
          </a:p>
        </p:txBody>
      </p:sp>
      <p:sp>
        <p:nvSpPr>
          <p:cNvPr id="3" name="Text 1"/>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200" b="1" dirty="0">
                <a:solidFill>
                  <a:srgbClr val="2F3C7E"/>
                </a:solidFill>
                <a:latin typeface="Cambria" pitchFamily="34" charset="0"/>
                <a:ea typeface="Cambria" pitchFamily="34" charset="-122"/>
                <a:cs typeface="Cambria" pitchFamily="34" charset="-120"/>
              </a:rPr>
              <a:t>Problemas encontrados e vieses</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400800" cy="2743200"/>
        </p:xfrm>
        <a:graphic>
          <a:graphicData uri="http://schemas.openxmlformats.org/drawingml/2006/table">
            <a:tbl>
              <a:tblPr/>
              <a:tblGrid>
                <a:gridCol w="1920240"/>
                <a:gridCol w="4480560"/>
              </a:tblGrid>
              <a:tr h="548640">
                <a:tc>
                  <a:txBody>
                    <a:bodyPr/>
                    <a:lstStyle/>
                    <a:p>
                      <a:pPr indent="0" marL="0">
                        <a:buNone/>
                      </a:pPr>
                      <a:r>
                        <a:rPr lang="en-US" sz="1200" b="1" dirty="0">
                          <a:solidFill>
                            <a:srgbClr val="FFFFFF"/>
                          </a:solidFill>
                        </a:rPr>
                        <a:t>Eixo</a:t>
                      </a:r>
                      <a:endParaRPr lang="en-US" sz="120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solidFill>
                      <a:srgbClr val="2F3C7E"/>
                    </a:solidFill>
                  </a:tcPr>
                </a:tc>
                <a:tc>
                  <a:txBody>
                    <a:bodyPr/>
                    <a:lstStyle/>
                    <a:p>
                      <a:pPr indent="0" marL="0">
                        <a:buNone/>
                      </a:pPr>
                      <a:r>
                        <a:rPr lang="en-US" sz="1200" b="1" dirty="0">
                          <a:solidFill>
                            <a:srgbClr val="FFFFFF"/>
                          </a:solidFill>
                        </a:rPr>
                        <a:t>Resultado</a:t>
                      </a:r>
                      <a:endParaRPr lang="en-US" sz="120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solidFill>
                      <a:srgbClr val="2F3C7E"/>
                    </a:solidFill>
                  </a:tcPr>
                </a:tc>
              </a:tr>
              <a:tr h="548640">
                <a:tc>
                  <a:txBody>
                    <a:bodyPr/>
                    <a:lstStyle/>
                    <a:p>
                      <a:pPr indent="0" marL="0">
                        <a:buNone/>
                      </a:pPr>
                      <a:r>
                        <a:rPr lang="en-US" sz="1200" dirty="0">
                          <a:solidFill>
                            <a:srgbClr val="22252B"/>
                          </a:solidFill>
                        </a:rPr>
                        <a:t>Dados ausentes</a:t>
                      </a:r>
                      <a:endParaRPr lang="en-US" sz="120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indent="0" marL="0">
                        <a:buNone/>
                      </a:pPr>
                      <a:r>
                        <a:rPr lang="en-US" sz="1200" dirty="0">
                          <a:solidFill>
                            <a:srgbClr val="22252B"/>
                          </a:solidFill>
                        </a:rPr>
                        <a:t>0% em todas as colunas (artificial da geração sintética)</a:t>
                      </a:r>
                      <a:endParaRPr lang="en-US" sz="120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r>
              <a:tr h="548640">
                <a:tc>
                  <a:txBody>
                    <a:bodyPr/>
                    <a:lstStyle/>
                    <a:p>
                      <a:pPr indent="0" marL="0">
                        <a:buNone/>
                      </a:pPr>
                      <a:r>
                        <a:rPr lang="en-US" sz="1200" dirty="0">
                          <a:solidFill>
                            <a:srgbClr val="22252B"/>
                          </a:solidFill>
                        </a:rPr>
                        <a:t>Duplicados</a:t>
                      </a:r>
                      <a:endParaRPr lang="en-US" sz="120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indent="0" marL="0">
                        <a:buNone/>
                      </a:pPr>
                      <a:r>
                        <a:rPr lang="en-US" sz="1200" dirty="0">
                          <a:solidFill>
                            <a:srgbClr val="22252B"/>
                          </a:solidFill>
                        </a:rPr>
                        <a:t>0 linhas idênticas; 7 colisões de perfil+rótulo (esperadas)</a:t>
                      </a:r>
                      <a:endParaRPr lang="en-US" sz="120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r>
              <a:tr h="548640">
                <a:tc>
                  <a:txBody>
                    <a:bodyPr/>
                    <a:lstStyle/>
                    <a:p>
                      <a:pPr indent="0" marL="0">
                        <a:buNone/>
                      </a:pPr>
                      <a:r>
                        <a:rPr lang="en-US" sz="1200" dirty="0">
                          <a:solidFill>
                            <a:srgbClr val="22252B"/>
                          </a:solidFill>
                        </a:rPr>
                        <a:t>Inconsistências</a:t>
                      </a:r>
                      <a:endParaRPr lang="en-US" sz="120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indent="0" marL="0">
                        <a:buNone/>
                      </a:pPr>
                      <a:r>
                        <a:rPr lang="en-US" sz="1200" dirty="0">
                          <a:solidFill>
                            <a:srgbClr val="22252B"/>
                          </a:solidFill>
                        </a:rPr>
                        <a:t>Nomenclatura sem acento; ordinais como texto; 8% de ruído de rótulo</a:t>
                      </a:r>
                      <a:endParaRPr lang="en-US" sz="120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r>
              <a:tr h="548640">
                <a:tc>
                  <a:txBody>
                    <a:bodyPr/>
                    <a:lstStyle/>
                    <a:p>
                      <a:pPr indent="0" marL="0">
                        <a:buNone/>
                      </a:pPr>
                      <a:r>
                        <a:rPr lang="en-US" sz="1200" dirty="0">
                          <a:solidFill>
                            <a:srgbClr val="22252B"/>
                          </a:solidFill>
                        </a:rPr>
                        <a:t>Desbalanceamento</a:t>
                      </a:r>
                      <a:endParaRPr lang="en-US" sz="120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indent="0" marL="0">
                        <a:buNone/>
                      </a:pPr>
                      <a:r>
                        <a:rPr lang="en-US" sz="1200" dirty="0">
                          <a:solidFill>
                            <a:srgbClr val="22252B"/>
                          </a:solidFill>
                        </a:rPr>
                        <a:t>Leve — Treino D 30,7% vs Treino B 18,0% (razão 1,7:1)</a:t>
                      </a:r>
                      <a:endParaRPr lang="en-US" sz="120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r>
            </a:tbl>
          </a:graphicData>
        </a:graphic>
      </p:graphicFrame>
      <p:sp>
        <p:nvSpPr>
          <p:cNvPr id="5" name="Shape 2"/>
          <p:cNvSpPr/>
          <p:nvPr/>
        </p:nvSpPr>
        <p:spPr>
          <a:xfrm>
            <a:off x="548640" y="4434840"/>
            <a:ext cx="6400800" cy="1600200"/>
          </a:xfrm>
          <a:prstGeom prst="roundRect">
            <a:avLst>
              <a:gd name="adj" fmla="val 5714"/>
            </a:avLst>
          </a:prstGeom>
          <a:solidFill>
            <a:srgbClr val="F96167"/>
          </a:solidFill>
          <a:ln/>
        </p:spPr>
      </p:sp>
      <p:sp>
        <p:nvSpPr>
          <p:cNvPr id="6" name="Text 3"/>
          <p:cNvSpPr txBox="1"/>
          <p:nvPr/>
        </p:nvSpPr>
        <p:spPr>
          <a:xfrm>
            <a:off x="822960" y="4590288"/>
            <a:ext cx="576072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Viés identificado</a:t>
            </a:r>
            <a:endParaRPr lang="en-US" sz="1300" dirty="0"/>
          </a:p>
        </p:txBody>
      </p:sp>
      <p:sp>
        <p:nvSpPr>
          <p:cNvPr id="7" name="Text 4"/>
          <p:cNvSpPr txBox="1"/>
          <p:nvPr/>
        </p:nvSpPr>
        <p:spPr>
          <a:xfrm>
            <a:off x="822960" y="4901184"/>
            <a:ext cx="5760720" cy="1097280"/>
          </a:xfrm>
          <a:prstGeom prst="rect">
            <a:avLst/>
          </a:prstGeom>
          <a:noFill/>
          <a:ln/>
        </p:spPr>
        <p:txBody>
          <a:bodyPr wrap="square" lIns="0" tIns="0" rIns="0" bIns="0" rtlCol="0" anchor="ctr"/>
          <a:lstStyle/>
          <a:p>
            <a:pPr indent="0" marL="0">
              <a:lnSpc>
                <a:spcPct val="125000"/>
              </a:lnSpc>
              <a:buNone/>
            </a:pPr>
            <a:r>
              <a:rPr lang="en-US" sz="1150" dirty="0">
                <a:solidFill>
                  <a:srgbClr val="FFFFFF"/>
                </a:solidFill>
                <a:latin typeface="Calibri" pitchFamily="34" charset="0"/>
                <a:ea typeface="Calibri" pitchFamily="34" charset="-122"/>
                <a:cs typeface="Calibri" pitchFamily="34" charset="-120"/>
              </a:rPr>
              <a:t>Alunos "sem equipamento" (7,3% da base) têm rótulo praticamente fixo (Treino D) pela própria regra de geração — um viés de amostragem e rotulagem que precisa ser observado quando a base real substituir a simulada.</a:t>
            </a:r>
            <a:endParaRPr lang="en-US" sz="1150" dirty="0"/>
          </a:p>
        </p:txBody>
      </p:sp>
      <p:sp>
        <p:nvSpPr>
          <p:cNvPr id="8" name="Text 5"/>
          <p:cNvSpPr txBox="1"/>
          <p:nvPr/>
        </p:nvSpPr>
        <p:spPr>
          <a:xfrm>
            <a:off x="7223760" y="1463040"/>
            <a:ext cx="4389120" cy="320040"/>
          </a:xfrm>
          <a:prstGeom prst="rect">
            <a:avLst/>
          </a:prstGeom>
          <a:noFill/>
          <a:ln/>
        </p:spPr>
        <p:txBody>
          <a:bodyPr wrap="square" lIns="0" tIns="0" rIns="0" bIns="0" rtlCol="0" anchor="ctr"/>
          <a:lstStyle/>
          <a:p>
            <a:pPr indent="0" marL="0">
              <a:buNone/>
            </a:pPr>
            <a:r>
              <a:rPr lang="en-US" sz="1400" b="1" dirty="0">
                <a:solidFill>
                  <a:srgbClr val="2F3C7E"/>
                </a:solidFill>
                <a:latin typeface="Calibri" pitchFamily="34" charset="0"/>
                <a:ea typeface="Calibri" pitchFamily="34" charset="-122"/>
                <a:cs typeface="Calibri" pitchFamily="34" charset="-120"/>
              </a:rPr>
              <a:t>Ações de tratamento previstas</a:t>
            </a:r>
            <a:endParaRPr lang="en-US" sz="1400" dirty="0"/>
          </a:p>
        </p:txBody>
      </p:sp>
      <p:sp>
        <p:nvSpPr>
          <p:cNvPr id="9" name="Shape 6"/>
          <p:cNvSpPr/>
          <p:nvPr/>
        </p:nvSpPr>
        <p:spPr>
          <a:xfrm>
            <a:off x="7223760" y="1874520"/>
            <a:ext cx="4389120" cy="1188720"/>
          </a:xfrm>
          <a:prstGeom prst="roundRect">
            <a:avLst>
              <a:gd name="adj" fmla="val 6923"/>
            </a:avLst>
          </a:prstGeom>
          <a:solidFill>
            <a:srgbClr val="F4F5FA"/>
          </a:solidFill>
          <a:ln/>
        </p:spPr>
      </p:sp>
      <p:sp>
        <p:nvSpPr>
          <p:cNvPr id="10" name="Text 7"/>
          <p:cNvSpPr txBox="1"/>
          <p:nvPr/>
        </p:nvSpPr>
        <p:spPr>
          <a:xfrm>
            <a:off x="7498080" y="2011680"/>
            <a:ext cx="3840480" cy="594360"/>
          </a:xfrm>
          <a:prstGeom prst="rect">
            <a:avLst/>
          </a:prstGeom>
          <a:noFill/>
          <a:ln/>
        </p:spPr>
        <p:txBody>
          <a:bodyPr wrap="square" lIns="0" tIns="0" rIns="0" bIns="0" rtlCol="0" anchor="ctr"/>
          <a:lstStyle/>
          <a:p>
            <a:pPr indent="0" marL="0">
              <a:lnSpc>
                <a:spcPct val="115000"/>
              </a:lnSpc>
              <a:buNone/>
            </a:pPr>
            <a:r>
              <a:rPr lang="en-US" sz="1250" b="1" dirty="0">
                <a:solidFill>
                  <a:srgbClr val="22252B"/>
                </a:solidFill>
                <a:latin typeface="Calibri" pitchFamily="34" charset="0"/>
                <a:ea typeface="Calibri" pitchFamily="34" charset="-122"/>
                <a:cs typeface="Calibri" pitchFamily="34" charset="-120"/>
              </a:rPr>
              <a:t>Substituir base simulada por dados reais</a:t>
            </a:r>
            <a:endParaRPr lang="en-US" sz="1250" dirty="0"/>
          </a:p>
        </p:txBody>
      </p:sp>
      <p:sp>
        <p:nvSpPr>
          <p:cNvPr id="11" name="Text 8"/>
          <p:cNvSpPr txBox="1"/>
          <p:nvPr/>
        </p:nvSpPr>
        <p:spPr>
          <a:xfrm>
            <a:off x="7498080" y="2651760"/>
            <a:ext cx="3840480" cy="320040"/>
          </a:xfrm>
          <a:prstGeom prst="rect">
            <a:avLst/>
          </a:prstGeom>
          <a:noFill/>
          <a:ln/>
        </p:spPr>
        <p:txBody>
          <a:bodyPr wrap="square" lIns="0" tIns="0" rIns="0" bIns="0" rtlCol="0" anchor="ctr"/>
          <a:lstStyle/>
          <a:p>
            <a:pPr indent="0" marL="0">
              <a:buNone/>
            </a:pPr>
            <a:r>
              <a:rPr lang="en-US" sz="1100" b="1" dirty="0">
                <a:solidFill>
                  <a:srgbClr val="F96167"/>
                </a:solidFill>
                <a:latin typeface="Calibri" pitchFamily="34" charset="0"/>
                <a:ea typeface="Calibri" pitchFamily="34" charset="-122"/>
                <a:cs typeface="Calibri" pitchFamily="34" charset="-120"/>
              </a:rPr>
              <a:t>Encontros 5 e 8</a:t>
            </a:r>
            <a:endParaRPr lang="en-US" sz="1100" dirty="0"/>
          </a:p>
        </p:txBody>
      </p:sp>
      <p:sp>
        <p:nvSpPr>
          <p:cNvPr id="12" name="Shape 9"/>
          <p:cNvSpPr/>
          <p:nvPr/>
        </p:nvSpPr>
        <p:spPr>
          <a:xfrm>
            <a:off x="7223760" y="3246120"/>
            <a:ext cx="4389120" cy="1188720"/>
          </a:xfrm>
          <a:prstGeom prst="roundRect">
            <a:avLst>
              <a:gd name="adj" fmla="val 6923"/>
            </a:avLst>
          </a:prstGeom>
          <a:solidFill>
            <a:srgbClr val="F4F5FA"/>
          </a:solidFill>
          <a:ln/>
        </p:spPr>
      </p:sp>
      <p:sp>
        <p:nvSpPr>
          <p:cNvPr id="13" name="Text 10"/>
          <p:cNvSpPr txBox="1"/>
          <p:nvPr/>
        </p:nvSpPr>
        <p:spPr>
          <a:xfrm>
            <a:off x="7498080" y="3383280"/>
            <a:ext cx="3840480" cy="594360"/>
          </a:xfrm>
          <a:prstGeom prst="rect">
            <a:avLst/>
          </a:prstGeom>
          <a:noFill/>
          <a:ln/>
        </p:spPr>
        <p:txBody>
          <a:bodyPr wrap="square" lIns="0" tIns="0" rIns="0" bIns="0" rtlCol="0" anchor="ctr"/>
          <a:lstStyle/>
          <a:p>
            <a:pPr indent="0" marL="0">
              <a:lnSpc>
                <a:spcPct val="115000"/>
              </a:lnSpc>
              <a:buNone/>
            </a:pPr>
            <a:r>
              <a:rPr lang="en-US" sz="1250" b="1" dirty="0">
                <a:solidFill>
                  <a:srgbClr val="22252B"/>
                </a:solidFill>
                <a:latin typeface="Calibri" pitchFamily="34" charset="0"/>
                <a:ea typeface="Calibri" pitchFamily="34" charset="-122"/>
                <a:cs typeface="Calibri" pitchFamily="34" charset="-120"/>
              </a:rPr>
              <a:t>Padronizar nomenclatura e tipos ordinais</a:t>
            </a:r>
            <a:endParaRPr lang="en-US" sz="1250" dirty="0"/>
          </a:p>
        </p:txBody>
      </p:sp>
      <p:sp>
        <p:nvSpPr>
          <p:cNvPr id="14" name="Text 11"/>
          <p:cNvSpPr txBox="1"/>
          <p:nvPr/>
        </p:nvSpPr>
        <p:spPr>
          <a:xfrm>
            <a:off x="7498080" y="4023360"/>
            <a:ext cx="3840480" cy="320040"/>
          </a:xfrm>
          <a:prstGeom prst="rect">
            <a:avLst/>
          </a:prstGeom>
          <a:noFill/>
          <a:ln/>
        </p:spPr>
        <p:txBody>
          <a:bodyPr wrap="square" lIns="0" tIns="0" rIns="0" bIns="0" rtlCol="0" anchor="ctr"/>
          <a:lstStyle/>
          <a:p>
            <a:pPr indent="0" marL="0">
              <a:buNone/>
            </a:pPr>
            <a:r>
              <a:rPr lang="en-US" sz="1100" b="1" dirty="0">
                <a:solidFill>
                  <a:srgbClr val="F96167"/>
                </a:solidFill>
                <a:latin typeface="Calibri" pitchFamily="34" charset="0"/>
                <a:ea typeface="Calibri" pitchFamily="34" charset="-122"/>
                <a:cs typeface="Calibri" pitchFamily="34" charset="-120"/>
              </a:rPr>
              <a:t>Preparação dos dados</a:t>
            </a:r>
            <a:endParaRPr lang="en-US" sz="1100" dirty="0"/>
          </a:p>
        </p:txBody>
      </p:sp>
      <p:sp>
        <p:nvSpPr>
          <p:cNvPr id="15" name="Shape 12"/>
          <p:cNvSpPr/>
          <p:nvPr/>
        </p:nvSpPr>
        <p:spPr>
          <a:xfrm>
            <a:off x="7223760" y="4617720"/>
            <a:ext cx="4389120" cy="1188720"/>
          </a:xfrm>
          <a:prstGeom prst="roundRect">
            <a:avLst>
              <a:gd name="adj" fmla="val 6923"/>
            </a:avLst>
          </a:prstGeom>
          <a:solidFill>
            <a:srgbClr val="F4F5FA"/>
          </a:solidFill>
          <a:ln/>
        </p:spPr>
      </p:sp>
      <p:sp>
        <p:nvSpPr>
          <p:cNvPr id="16" name="Text 13"/>
          <p:cNvSpPr txBox="1"/>
          <p:nvPr/>
        </p:nvSpPr>
        <p:spPr>
          <a:xfrm>
            <a:off x="7498080" y="4754880"/>
            <a:ext cx="3840480" cy="594360"/>
          </a:xfrm>
          <a:prstGeom prst="rect">
            <a:avLst/>
          </a:prstGeom>
          <a:noFill/>
          <a:ln/>
        </p:spPr>
        <p:txBody>
          <a:bodyPr wrap="square" lIns="0" tIns="0" rIns="0" bIns="0" rtlCol="0" anchor="ctr"/>
          <a:lstStyle/>
          <a:p>
            <a:pPr indent="0" marL="0">
              <a:lnSpc>
                <a:spcPct val="115000"/>
              </a:lnSpc>
              <a:buNone/>
            </a:pPr>
            <a:r>
              <a:rPr lang="en-US" sz="1250" b="1" dirty="0">
                <a:solidFill>
                  <a:srgbClr val="22252B"/>
                </a:solidFill>
                <a:latin typeface="Calibri" pitchFamily="34" charset="0"/>
                <a:ea typeface="Calibri" pitchFamily="34" charset="-122"/>
                <a:cs typeface="Calibri" pitchFamily="34" charset="-120"/>
              </a:rPr>
              <a:t>Reavaliar granularidade das 4 categorias</a:t>
            </a:r>
            <a:endParaRPr lang="en-US" sz="1250" dirty="0"/>
          </a:p>
        </p:txBody>
      </p:sp>
      <p:sp>
        <p:nvSpPr>
          <p:cNvPr id="17" name="Text 14"/>
          <p:cNvSpPr txBox="1"/>
          <p:nvPr/>
        </p:nvSpPr>
        <p:spPr>
          <a:xfrm>
            <a:off x="7498080" y="5394960"/>
            <a:ext cx="3840480" cy="320040"/>
          </a:xfrm>
          <a:prstGeom prst="rect">
            <a:avLst/>
          </a:prstGeom>
          <a:noFill/>
          <a:ln/>
        </p:spPr>
        <p:txBody>
          <a:bodyPr wrap="square" lIns="0" tIns="0" rIns="0" bIns="0" rtlCol="0" anchor="ctr"/>
          <a:lstStyle/>
          <a:p>
            <a:pPr indent="0" marL="0">
              <a:buNone/>
            </a:pPr>
            <a:r>
              <a:rPr lang="en-US" sz="1100" b="1" dirty="0">
                <a:solidFill>
                  <a:srgbClr val="F96167"/>
                </a:solidFill>
                <a:latin typeface="Calibri" pitchFamily="34" charset="0"/>
                <a:ea typeface="Calibri" pitchFamily="34" charset="-122"/>
                <a:cs typeface="Calibri" pitchFamily="34" charset="-120"/>
              </a:rPr>
              <a:t>Após primeiros testes do modelo</a:t>
            </a:r>
            <a:endParaRPr lang="en-US" sz="1100" dirty="0"/>
          </a:p>
        </p:txBody>
      </p:sp>
      <p:sp>
        <p:nvSpPr>
          <p:cNvPr id="19" name="Text 15"/>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Recomendação de Treinos Personalizados — AP1</a:t>
            </a:r>
            <a:endParaRPr lang="en-US" sz="900" dirty="0"/>
          </a:p>
        </p:txBody>
      </p:sp>
      <p:sp>
        <p:nvSpPr>
          <p:cNvPr id="20" name="Text 16"/>
          <p:cNvSpPr txBox="1"/>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F3C7E"/>
        </a:solidFill>
      </p:bgPr>
    </p:bg>
    <p:spTree>
      <p:nvGrpSpPr>
        <p:cNvPr id="1" name=""/>
        <p:cNvGrpSpPr/>
        <p:nvPr/>
      </p:nvGrpSpPr>
      <p:grpSpPr>
        <a:xfrm>
          <a:off x="0" y="0"/>
          <a:ext cx="0" cy="0"/>
          <a:chOff x="0" y="0"/>
          <a:chExt cx="0" cy="0"/>
        </a:xfrm>
      </p:grpSpPr>
      <p:sp>
        <p:nvSpPr>
          <p:cNvPr id="2" name="Text 0"/>
          <p:cNvSpPr txBox="1"/>
          <p:nvPr/>
        </p:nvSpPr>
        <p:spPr>
          <a:xfrm>
            <a:off x="548640" y="164592"/>
            <a:ext cx="9144000" cy="274320"/>
          </a:xfrm>
          <a:prstGeom prst="rect">
            <a:avLst/>
          </a:prstGeom>
          <a:noFill/>
          <a:ln/>
        </p:spPr>
        <p:txBody>
          <a:bodyPr wrap="square" lIns="0" tIns="0" rIns="0" bIns="0" rtlCol="0" anchor="ctr"/>
          <a:lstStyle/>
          <a:p>
            <a:pPr indent="0" marL="0">
              <a:buNone/>
            </a:pPr>
            <a:r>
              <a:rPr lang="en-US" sz="1200" b="1" spc="200" kern="0" dirty="0">
                <a:solidFill>
                  <a:srgbClr val="F9E795"/>
                </a:solidFill>
                <a:latin typeface="Calibri" pitchFamily="34" charset="0"/>
                <a:ea typeface="Calibri" pitchFamily="34" charset="-122"/>
                <a:cs typeface="Calibri" pitchFamily="34" charset="-120"/>
              </a:rPr>
              <a:t>8. PRÓXIMOS PASSOS</a:t>
            </a:r>
            <a:endParaRPr lang="en-US" sz="1200" dirty="0"/>
          </a:p>
        </p:txBody>
      </p:sp>
      <p:sp>
        <p:nvSpPr>
          <p:cNvPr id="3" name="Text 1"/>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Do diagnóstico ao primeiro modelo</a:t>
            </a:r>
            <a:endParaRPr lang="en-US" sz="3200" dirty="0"/>
          </a:p>
        </p:txBody>
      </p:sp>
      <p:sp>
        <p:nvSpPr>
          <p:cNvPr id="4" name="Shape 2"/>
          <p:cNvSpPr/>
          <p:nvPr/>
        </p:nvSpPr>
        <p:spPr>
          <a:xfrm>
            <a:off x="640080" y="1828800"/>
            <a:ext cx="2560320" cy="2651760"/>
          </a:xfrm>
          <a:prstGeom prst="roundRect">
            <a:avLst>
              <a:gd name="adj" fmla="val 3571"/>
            </a:avLst>
          </a:prstGeom>
          <a:solidFill>
            <a:srgbClr val="3B4A96"/>
          </a:solidFill>
          <a:ln/>
        </p:spPr>
      </p:sp>
      <p:sp>
        <p:nvSpPr>
          <p:cNvPr id="5" name="Shape 3"/>
          <p:cNvSpPr/>
          <p:nvPr/>
        </p:nvSpPr>
        <p:spPr>
          <a:xfrm>
            <a:off x="914400" y="2103120"/>
            <a:ext cx="457200" cy="457200"/>
          </a:xfrm>
          <a:prstGeom prst="ellipse">
            <a:avLst/>
          </a:prstGeom>
          <a:solidFill>
            <a:srgbClr val="F96167"/>
          </a:solidFill>
          <a:ln/>
        </p:spPr>
      </p:sp>
      <p:sp>
        <p:nvSpPr>
          <p:cNvPr id="6" name="Text 4"/>
          <p:cNvSpPr txBox="1"/>
          <p:nvPr/>
        </p:nvSpPr>
        <p:spPr>
          <a:xfrm>
            <a:off x="914400" y="21031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868680" y="2743200"/>
            <a:ext cx="2103120" cy="365760"/>
          </a:xfrm>
          <a:prstGeom prst="rect">
            <a:avLst/>
          </a:prstGeom>
          <a:noFill/>
          <a:ln/>
        </p:spPr>
        <p:txBody>
          <a:bodyPr wrap="square" lIns="0" tIns="0" rIns="0" bIns="0" rtlCol="0" anchor="ctr"/>
          <a:lstStyle/>
          <a:p>
            <a:pPr indent="0" marL="0">
              <a:buNone/>
            </a:pPr>
            <a:r>
              <a:rPr lang="en-US" sz="1300" b="1" dirty="0">
                <a:solidFill>
                  <a:srgbClr val="F9E795"/>
                </a:solidFill>
                <a:latin typeface="Calibri" pitchFamily="34" charset="0"/>
                <a:ea typeface="Calibri" pitchFamily="34" charset="-122"/>
                <a:cs typeface="Calibri" pitchFamily="34" charset="-120"/>
              </a:rPr>
              <a:t>Encontro 8</a:t>
            </a:r>
            <a:endParaRPr lang="en-US" sz="1300" dirty="0"/>
          </a:p>
        </p:txBody>
      </p:sp>
      <p:sp>
        <p:nvSpPr>
          <p:cNvPr id="8" name="Text 6"/>
          <p:cNvSpPr txBox="1"/>
          <p:nvPr/>
        </p:nvSpPr>
        <p:spPr>
          <a:xfrm>
            <a:off x="868680" y="3127248"/>
            <a:ext cx="2103120" cy="1234440"/>
          </a:xfrm>
          <a:prstGeom prst="rect">
            <a:avLst/>
          </a:prstGeom>
          <a:noFill/>
          <a:ln/>
        </p:spPr>
        <p:txBody>
          <a:bodyPr wrap="square" lIns="0" tIns="0" rIns="0" bIns="0" rtlCol="0" anchor="ctr"/>
          <a:lstStyle/>
          <a:p>
            <a:pPr indent="0" marL="0">
              <a:lnSpc>
                <a:spcPct val="125000"/>
              </a:lnSpc>
              <a:buNone/>
            </a:pPr>
            <a:r>
              <a:rPr lang="en-US" sz="1150" dirty="0">
                <a:solidFill>
                  <a:srgbClr val="FFFFFF"/>
                </a:solidFill>
                <a:latin typeface="Calibri" pitchFamily="34" charset="0"/>
                <a:ea typeface="Calibri" pitchFamily="34" charset="-122"/>
                <a:cs typeface="Calibri" pitchFamily="34" charset="-120"/>
              </a:rPr>
              <a:t>Preparação e tratamento dos dados para o modelo</a:t>
            </a:r>
            <a:endParaRPr lang="en-US" sz="1150" dirty="0"/>
          </a:p>
        </p:txBody>
      </p:sp>
      <p:sp>
        <p:nvSpPr>
          <p:cNvPr id="9" name="Shape 7"/>
          <p:cNvSpPr/>
          <p:nvPr/>
        </p:nvSpPr>
        <p:spPr>
          <a:xfrm>
            <a:off x="3429000" y="1828800"/>
            <a:ext cx="2560320" cy="2651760"/>
          </a:xfrm>
          <a:prstGeom prst="roundRect">
            <a:avLst>
              <a:gd name="adj" fmla="val 3571"/>
            </a:avLst>
          </a:prstGeom>
          <a:solidFill>
            <a:srgbClr val="3B4A96"/>
          </a:solidFill>
          <a:ln/>
        </p:spPr>
      </p:sp>
      <p:sp>
        <p:nvSpPr>
          <p:cNvPr id="10" name="Shape 8"/>
          <p:cNvSpPr/>
          <p:nvPr/>
        </p:nvSpPr>
        <p:spPr>
          <a:xfrm>
            <a:off x="3703320" y="2103120"/>
            <a:ext cx="457200" cy="457200"/>
          </a:xfrm>
          <a:prstGeom prst="ellipse">
            <a:avLst/>
          </a:prstGeom>
          <a:solidFill>
            <a:srgbClr val="F96167"/>
          </a:solidFill>
          <a:ln/>
        </p:spPr>
      </p:sp>
      <p:sp>
        <p:nvSpPr>
          <p:cNvPr id="11" name="Text 9"/>
          <p:cNvSpPr txBox="1"/>
          <p:nvPr/>
        </p:nvSpPr>
        <p:spPr>
          <a:xfrm>
            <a:off x="3703320" y="21031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txBox="1"/>
          <p:nvPr/>
        </p:nvSpPr>
        <p:spPr>
          <a:xfrm>
            <a:off x="3657600" y="2743200"/>
            <a:ext cx="2103120" cy="365760"/>
          </a:xfrm>
          <a:prstGeom prst="rect">
            <a:avLst/>
          </a:prstGeom>
          <a:noFill/>
          <a:ln/>
        </p:spPr>
        <p:txBody>
          <a:bodyPr wrap="square" lIns="0" tIns="0" rIns="0" bIns="0" rtlCol="0" anchor="ctr"/>
          <a:lstStyle/>
          <a:p>
            <a:pPr indent="0" marL="0">
              <a:buNone/>
            </a:pPr>
            <a:r>
              <a:rPr lang="en-US" sz="1300" b="1" dirty="0">
                <a:solidFill>
                  <a:srgbClr val="F9E795"/>
                </a:solidFill>
                <a:latin typeface="Calibri" pitchFamily="34" charset="0"/>
                <a:ea typeface="Calibri" pitchFamily="34" charset="-122"/>
                <a:cs typeface="Calibri" pitchFamily="34" charset="-120"/>
              </a:rPr>
              <a:t>Encontro 9</a:t>
            </a:r>
            <a:endParaRPr lang="en-US" sz="1300" dirty="0"/>
          </a:p>
        </p:txBody>
      </p:sp>
      <p:sp>
        <p:nvSpPr>
          <p:cNvPr id="13" name="Text 11"/>
          <p:cNvSpPr txBox="1"/>
          <p:nvPr/>
        </p:nvSpPr>
        <p:spPr>
          <a:xfrm>
            <a:off x="3657600" y="3127248"/>
            <a:ext cx="2103120" cy="1234440"/>
          </a:xfrm>
          <a:prstGeom prst="rect">
            <a:avLst/>
          </a:prstGeom>
          <a:noFill/>
          <a:ln/>
        </p:spPr>
        <p:txBody>
          <a:bodyPr wrap="square" lIns="0" tIns="0" rIns="0" bIns="0" rtlCol="0" anchor="ctr"/>
          <a:lstStyle/>
          <a:p>
            <a:pPr indent="0" marL="0">
              <a:lnSpc>
                <a:spcPct val="125000"/>
              </a:lnSpc>
              <a:buNone/>
            </a:pPr>
            <a:r>
              <a:rPr lang="en-US" sz="1150" dirty="0">
                <a:solidFill>
                  <a:srgbClr val="FFFFFF"/>
                </a:solidFill>
                <a:latin typeface="Calibri" pitchFamily="34" charset="0"/>
                <a:ea typeface="Calibri" pitchFamily="34" charset="-122"/>
                <a:cs typeface="Calibri" pitchFamily="34" charset="-120"/>
              </a:rPr>
              <a:t>Treinamento do modelo — Árvore de Decisão</a:t>
            </a:r>
            <a:endParaRPr lang="en-US" sz="1150" dirty="0"/>
          </a:p>
        </p:txBody>
      </p:sp>
      <p:sp>
        <p:nvSpPr>
          <p:cNvPr id="14" name="Shape 12"/>
          <p:cNvSpPr/>
          <p:nvPr/>
        </p:nvSpPr>
        <p:spPr>
          <a:xfrm>
            <a:off x="6217920" y="1828800"/>
            <a:ext cx="2560320" cy="2651760"/>
          </a:xfrm>
          <a:prstGeom prst="roundRect">
            <a:avLst>
              <a:gd name="adj" fmla="val 3571"/>
            </a:avLst>
          </a:prstGeom>
          <a:solidFill>
            <a:srgbClr val="3B4A96"/>
          </a:solidFill>
          <a:ln/>
        </p:spPr>
      </p:sp>
      <p:sp>
        <p:nvSpPr>
          <p:cNvPr id="15" name="Shape 13"/>
          <p:cNvSpPr/>
          <p:nvPr/>
        </p:nvSpPr>
        <p:spPr>
          <a:xfrm>
            <a:off x="6492240" y="2103120"/>
            <a:ext cx="457200" cy="457200"/>
          </a:xfrm>
          <a:prstGeom prst="ellipse">
            <a:avLst/>
          </a:prstGeom>
          <a:solidFill>
            <a:srgbClr val="F96167"/>
          </a:solidFill>
          <a:ln/>
        </p:spPr>
      </p:sp>
      <p:sp>
        <p:nvSpPr>
          <p:cNvPr id="16" name="Text 14"/>
          <p:cNvSpPr txBox="1"/>
          <p:nvPr/>
        </p:nvSpPr>
        <p:spPr>
          <a:xfrm>
            <a:off x="6492240" y="21031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txBox="1"/>
          <p:nvPr/>
        </p:nvSpPr>
        <p:spPr>
          <a:xfrm>
            <a:off x="6446520" y="2743200"/>
            <a:ext cx="2103120" cy="365760"/>
          </a:xfrm>
          <a:prstGeom prst="rect">
            <a:avLst/>
          </a:prstGeom>
          <a:noFill/>
          <a:ln/>
        </p:spPr>
        <p:txBody>
          <a:bodyPr wrap="square" lIns="0" tIns="0" rIns="0" bIns="0" rtlCol="0" anchor="ctr"/>
          <a:lstStyle/>
          <a:p>
            <a:pPr indent="0" marL="0">
              <a:buNone/>
            </a:pPr>
            <a:r>
              <a:rPr lang="en-US" sz="1300" b="1" dirty="0">
                <a:solidFill>
                  <a:srgbClr val="F9E795"/>
                </a:solidFill>
                <a:latin typeface="Calibri" pitchFamily="34" charset="0"/>
                <a:ea typeface="Calibri" pitchFamily="34" charset="-122"/>
                <a:cs typeface="Calibri" pitchFamily="34" charset="-120"/>
              </a:rPr>
              <a:t>Próxima etapa</a:t>
            </a:r>
            <a:endParaRPr lang="en-US" sz="1300" dirty="0"/>
          </a:p>
        </p:txBody>
      </p:sp>
      <p:sp>
        <p:nvSpPr>
          <p:cNvPr id="18" name="Text 16"/>
          <p:cNvSpPr txBox="1"/>
          <p:nvPr/>
        </p:nvSpPr>
        <p:spPr>
          <a:xfrm>
            <a:off x="6446520" y="3127248"/>
            <a:ext cx="2103120" cy="1234440"/>
          </a:xfrm>
          <a:prstGeom prst="rect">
            <a:avLst/>
          </a:prstGeom>
          <a:noFill/>
          <a:ln/>
        </p:spPr>
        <p:txBody>
          <a:bodyPr wrap="square" lIns="0" tIns="0" rIns="0" bIns="0" rtlCol="0" anchor="ctr"/>
          <a:lstStyle/>
          <a:p>
            <a:pPr indent="0" marL="0">
              <a:lnSpc>
                <a:spcPct val="125000"/>
              </a:lnSpc>
              <a:buNone/>
            </a:pPr>
            <a:r>
              <a:rPr lang="en-US" sz="1150" dirty="0">
                <a:solidFill>
                  <a:srgbClr val="FFFFFF"/>
                </a:solidFill>
                <a:latin typeface="Calibri" pitchFamily="34" charset="0"/>
                <a:ea typeface="Calibri" pitchFamily="34" charset="-122"/>
                <a:cs typeface="Calibri" pitchFamily="34" charset="-120"/>
              </a:rPr>
              <a:t>Avaliação (F1-macro, matriz de confusão, desempenho por subgrupo)</a:t>
            </a:r>
            <a:endParaRPr lang="en-US" sz="1150" dirty="0"/>
          </a:p>
        </p:txBody>
      </p:sp>
      <p:sp>
        <p:nvSpPr>
          <p:cNvPr id="19" name="Shape 17"/>
          <p:cNvSpPr/>
          <p:nvPr/>
        </p:nvSpPr>
        <p:spPr>
          <a:xfrm>
            <a:off x="9006840" y="1828800"/>
            <a:ext cx="2560320" cy="2651760"/>
          </a:xfrm>
          <a:prstGeom prst="roundRect">
            <a:avLst>
              <a:gd name="adj" fmla="val 3571"/>
            </a:avLst>
          </a:prstGeom>
          <a:solidFill>
            <a:srgbClr val="3B4A96"/>
          </a:solidFill>
          <a:ln/>
        </p:spPr>
      </p:sp>
      <p:sp>
        <p:nvSpPr>
          <p:cNvPr id="20" name="Shape 18"/>
          <p:cNvSpPr/>
          <p:nvPr/>
        </p:nvSpPr>
        <p:spPr>
          <a:xfrm>
            <a:off x="9281160" y="2103120"/>
            <a:ext cx="457200" cy="457200"/>
          </a:xfrm>
          <a:prstGeom prst="ellipse">
            <a:avLst/>
          </a:prstGeom>
          <a:solidFill>
            <a:srgbClr val="F96167"/>
          </a:solidFill>
          <a:ln/>
        </p:spPr>
      </p:sp>
      <p:sp>
        <p:nvSpPr>
          <p:cNvPr id="21" name="Text 19"/>
          <p:cNvSpPr txBox="1"/>
          <p:nvPr/>
        </p:nvSpPr>
        <p:spPr>
          <a:xfrm>
            <a:off x="9281160" y="21031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2" name="Text 20"/>
          <p:cNvSpPr txBox="1"/>
          <p:nvPr/>
        </p:nvSpPr>
        <p:spPr>
          <a:xfrm>
            <a:off x="9235440" y="2743200"/>
            <a:ext cx="2103120" cy="365760"/>
          </a:xfrm>
          <a:prstGeom prst="rect">
            <a:avLst/>
          </a:prstGeom>
          <a:noFill/>
          <a:ln/>
        </p:spPr>
        <p:txBody>
          <a:bodyPr wrap="square" lIns="0" tIns="0" rIns="0" bIns="0" rtlCol="0" anchor="ctr"/>
          <a:lstStyle/>
          <a:p>
            <a:pPr indent="0" marL="0">
              <a:buNone/>
            </a:pPr>
            <a:r>
              <a:rPr lang="en-US" sz="1300" b="1" dirty="0">
                <a:solidFill>
                  <a:srgbClr val="F9E795"/>
                </a:solidFill>
                <a:latin typeface="Calibri" pitchFamily="34" charset="0"/>
                <a:ea typeface="Calibri" pitchFamily="34" charset="-122"/>
                <a:cs typeface="Calibri" pitchFamily="34" charset="-120"/>
              </a:rPr>
              <a:t>AP2</a:t>
            </a:r>
            <a:endParaRPr lang="en-US" sz="1300" dirty="0"/>
          </a:p>
        </p:txBody>
      </p:sp>
      <p:sp>
        <p:nvSpPr>
          <p:cNvPr id="23" name="Text 21"/>
          <p:cNvSpPr txBox="1"/>
          <p:nvPr/>
        </p:nvSpPr>
        <p:spPr>
          <a:xfrm>
            <a:off x="9235440" y="3127248"/>
            <a:ext cx="2103120" cy="1234440"/>
          </a:xfrm>
          <a:prstGeom prst="rect">
            <a:avLst/>
          </a:prstGeom>
          <a:noFill/>
          <a:ln/>
        </p:spPr>
        <p:txBody>
          <a:bodyPr wrap="square" lIns="0" tIns="0" rIns="0" bIns="0" rtlCol="0" anchor="ctr"/>
          <a:lstStyle/>
          <a:p>
            <a:pPr indent="0" marL="0">
              <a:lnSpc>
                <a:spcPct val="125000"/>
              </a:lnSpc>
              <a:buNone/>
            </a:pPr>
            <a:r>
              <a:rPr lang="en-US" sz="1150" dirty="0">
                <a:solidFill>
                  <a:srgbClr val="FFFFFF"/>
                </a:solidFill>
                <a:latin typeface="Calibri" pitchFamily="34" charset="0"/>
                <a:ea typeface="Calibri" pitchFamily="34" charset="-122"/>
                <a:cs typeface="Calibri" pitchFamily="34" charset="-120"/>
              </a:rPr>
              <a:t>Apresentação final do projeto</a:t>
            </a:r>
            <a:endParaRPr lang="en-US" sz="1150" dirty="0"/>
          </a:p>
        </p:txBody>
      </p:sp>
      <p:sp>
        <p:nvSpPr>
          <p:cNvPr id="24" name="Text 22"/>
          <p:cNvSpPr txBox="1"/>
          <p:nvPr/>
        </p:nvSpPr>
        <p:spPr>
          <a:xfrm>
            <a:off x="640080" y="5120640"/>
            <a:ext cx="7315200"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Obrigado! Perguntas?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2026-09-17T17:20:50Z</dcterms:created>
  <dcterms:modified xsi:type="dcterms:W3CDTF">2026-09-17T17:20:50Z</dcterms:modified>
</cp:coreProperties>
</file>